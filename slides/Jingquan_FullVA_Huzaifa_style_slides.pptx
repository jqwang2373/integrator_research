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B72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94" autoAdjust="0"/>
    <p:restoredTop sz="78670" autoAdjust="0"/>
  </p:normalViewPr>
  <p:slideViewPr>
    <p:cSldViewPr snapToGrid="0">
      <p:cViewPr varScale="1">
        <p:scale>
          <a:sx n="79" d="100"/>
          <a:sy n="79" d="100"/>
        </p:scale>
        <p:origin x="37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22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22016"/>
    </p:cViewPr>
  </p:sorter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theme" Target="theme/theme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1CA0-5F79-4EC3-B9FF-DD93D005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36431"/>
            <a:ext cx="10515600" cy="2092570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C9AC-ED88-4F74-BD7A-2F0BB8033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4646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48C4F-F720-7D87-F739-CB523400F1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28960" y="6209450"/>
            <a:ext cx="1921380" cy="42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59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21F2CD-9866-4A35-AB75-BCEFA474E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CBD90-F957-997D-12DC-DAF4A10B7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F65C2-1ABD-FC4D-5767-FFC8FBC9D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4BE2B75-4015-0A19-00BE-9FD5E506E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9842B61D-D559-A85F-FC5F-E170B796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0422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828E0-D269-49CB-A8F3-06105EBD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F4BA7D-A193-4AA8-9B3C-8DAABC30F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BAEAC-1F6F-A7E7-D61B-8911F71E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2B46C-326E-348C-0475-9F3618EF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9E519-2C9B-E44C-89D5-ACD02CAB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16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1CA0-5F79-4EC3-B9FF-DD93D0057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36431"/>
            <a:ext cx="10515600" cy="209257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3C9AC-ED88-4F74-BD7A-2F0BB8033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44646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09038-14E7-3677-07E4-8DEBEF96F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1560E-229C-3960-AEF9-8BC5D779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61214-CFA3-9422-9130-EFB43F99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5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E8552-FC0F-4F0C-B233-4B0363A5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0ED8A-2D16-4D3B-8330-E083BF9A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8541D0-50A1-422F-A216-294338069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8EC5C-857E-6B6F-AF0B-051A0CC8C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CA0C2-6AB3-0BB5-89FA-80C40229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C9A4F-D42A-F2D1-B7BC-90B82474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02C776-D033-4AB1-B9D3-C15F7246CB8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921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0D6D-3C44-4177-AA6D-9DF1D5858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7D55E-B92D-05D8-D53E-D3F5125F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B0B1-5519-2119-2F07-5E9DF6C76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8A785-CDD4-D078-1B4A-A7E6694D0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09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A4539-6EE0-452B-9864-C0E97E8A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983464-0243-B53A-6D6E-9AC83EBDC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F3A16-7D21-8D14-6654-3786FB60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682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6DB77-6CB9-4A91-8CD2-503902A3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1096DA-711C-4BE1-A5CF-FC0E92B2B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849E7-C0D6-4297-BBA8-ADC7BA3E0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8D3B8-1615-31ED-ADB8-57B39494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DC7E4E-77BB-F4C5-612A-A2AF9110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7A9F6-837C-BAD8-40D0-EE441277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2C776-D033-4AB1-B9D3-C15F7246CB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271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037AF-8F80-4850-B8F8-79D0E4F02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AEF32-8FB4-4254-A2DB-ADCAA2260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4FEAD-EF13-4307-8F3A-5FA683583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05/22/2024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0C9DB-D9DB-4AEF-9074-3627FE6DF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University of Wisconsin - Madison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0CE9E-47DD-46B4-BCE6-31F6270BD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B02C776-D033-4AB1-B9D3-C15F7246CB8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4DB3B-6B1B-56C0-EACC-00E2B42002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40833" y="167549"/>
            <a:ext cx="1425933" cy="31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0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00" r:id="rId2"/>
    <p:sldLayoutId id="2147483701" r:id="rId3"/>
    <p:sldLayoutId id="2147483702" r:id="rId4"/>
    <p:sldLayoutId id="2147483703" r:id="rId5"/>
    <p:sldLayoutId id="2147483705" r:id="rId6"/>
    <p:sldLayoutId id="2147483706" r:id="rId7"/>
    <p:sldLayoutId id="2147483708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4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7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8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9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10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11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auto_image1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d spine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Deck title"/>
          <p:cNvSpPr txBox="1"/>
          <p:nvPr/>
        </p:nvSpPr>
        <p:spPr>
          <a:xfrm>
            <a:off x="720000" y="850000"/>
            <a:ext cx="10700000" cy="2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Conditional Sixth-Order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Lie-Group FullVA Integrator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6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for Lower-Pair Mechanisms</a:t>
            </a:r>
          </a:p>
        </p:txBody>
      </p:sp>
      <p:sp>
        <p:nvSpPr>
          <p:cNvPr id="5" name="Author"/>
          <p:cNvSpPr txBox="1"/>
          <p:nvPr/>
        </p:nvSpPr>
        <p:spPr>
          <a:xfrm>
            <a:off x="760000" y="3600000"/>
            <a:ext cx="8800000" cy="9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Jingquan Wang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Simulation-Based Engineering Laboratory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Department of Mechanical Engineering, UW-Madison</a:t>
            </a:r>
          </a:p>
        </p:txBody>
      </p:sp>
      <p:sp>
        <p:nvSpPr>
          <p:cNvPr id="6" name="Date"/>
          <p:cNvSpPr txBox="1"/>
          <p:nvPr/>
        </p:nvSpPr>
        <p:spPr>
          <a:xfrm>
            <a:off x="760000" y="5160000"/>
            <a:ext cx="28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4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Lower-pair integration is hard</a:t>
            </a:r>
          </a:p>
        </p:txBody>
      </p:sp>
      <p:sp>
        <p:nvSpPr>
          <p:cNvPr id="5" name="Accent"/>
          <p:cNvSpPr/>
          <p:nvPr/>
        </p:nvSpPr>
        <p:spPr>
          <a:xfrm>
            <a:off x="838200" y="3890000"/>
            <a:ext cx="55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Headline"/>
          <p:cNvSpPr txBox="1"/>
          <p:nvPr/>
        </p:nvSpPr>
        <p:spPr>
          <a:xfrm>
            <a:off x="838200" y="1700000"/>
            <a:ext cx="105156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position-accurate step can still carry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velocity and reaction inconsistency.</a:t>
            </a:r>
          </a:p>
        </p:txBody>
      </p:sp>
      <p:sp>
        <p:nvSpPr>
          <p:cNvPr id="7" name="Support"/>
          <p:cNvSpPr txBox="1"/>
          <p:nvPr/>
        </p:nvSpPr>
        <p:spPr>
          <a:xfrm>
            <a:off x="1288200" y="3900000"/>
            <a:ext cx="95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Finite rotations live on SO(3).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Lower-pair mechanisms are index-3 DAEs.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useful method must synchronize position, velocity, acceleration, and multipliers in one solve.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method tradeoff so far</a:t>
            </a:r>
          </a:p>
        </p:txBody>
      </p:sp>
      <p:sp>
        <p:nvSpPr>
          <p:cNvPr id="5" name="Column"/>
          <p:cNvSpPr/>
          <p:nvPr/>
        </p:nvSpPr>
        <p:spPr>
          <a:xfrm>
            <a:off x="8382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Column accent"/>
          <p:cNvSpPr/>
          <p:nvPr/>
        </p:nvSpPr>
        <p:spPr>
          <a:xfrm>
            <a:off x="838200" y="1560000"/>
            <a:ext cx="5127800" cy="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7" name="Column"/>
          <p:cNvSpPr/>
          <p:nvPr/>
        </p:nvSpPr>
        <p:spPr>
          <a:xfrm>
            <a:off x="62260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Column accent"/>
          <p:cNvSpPr/>
          <p:nvPr/>
        </p:nvSpPr>
        <p:spPr>
          <a:xfrm>
            <a:off x="6226000" y="1560000"/>
            <a:ext cx="51278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Column title"/>
          <p:cNvSpPr txBox="1"/>
          <p:nvPr/>
        </p:nvSpPr>
        <p:spPr>
          <a:xfrm>
            <a:off x="10582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existing tools do well</a:t>
            </a:r>
          </a:p>
        </p:txBody>
      </p:sp>
      <p:sp>
        <p:nvSpPr>
          <p:cNvPr id="10" name="Column body"/>
          <p:cNvSpPr txBox="1"/>
          <p:nvPr/>
        </p:nvSpPr>
        <p:spPr>
          <a:xfrm>
            <a:off x="10582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Lie-group integrators keep rotations on the manifold.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DAE methods enforce holonomic constraints.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TFE methods provide a high-order direct-integration route.</a:t>
            </a:r>
          </a:p>
        </p:txBody>
      </p:sp>
      <p:sp>
        <p:nvSpPr>
          <p:cNvPr id="11" name="Column title"/>
          <p:cNvSpPr txBox="1"/>
          <p:nvPr/>
        </p:nvSpPr>
        <p:spPr>
          <a:xfrm>
            <a:off x="64460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remains exposed</a:t>
            </a:r>
          </a:p>
        </p:txBody>
      </p:sp>
      <p:sp>
        <p:nvSpPr>
          <p:cNvPr id="12" name="Column body"/>
          <p:cNvSpPr txBox="1"/>
          <p:nvPr/>
        </p:nvSpPr>
        <p:spPr>
          <a:xfrm>
            <a:off x="64460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Endpoint velocity and acceleration rows can drift.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Source-paper residual reproduction is not the same as a method claim.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 same-test superiority needs stricter evidence than local runs.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Central thesis</a:t>
            </a:r>
          </a:p>
        </p:txBody>
      </p:sp>
      <p:sp>
        <p:nvSpPr>
          <p:cNvPr id="5" name="Accent"/>
          <p:cNvSpPr/>
          <p:nvPr/>
        </p:nvSpPr>
        <p:spPr>
          <a:xfrm>
            <a:off x="838200" y="3890000"/>
            <a:ext cx="55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Headline"/>
          <p:cNvSpPr txBox="1"/>
          <p:nvPr/>
        </p:nvSpPr>
        <p:spPr>
          <a:xfrm>
            <a:off x="838200" y="1700000"/>
            <a:ext cx="105156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monolithic Gauss6/FullVA residual can deliver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 conditional sixth-order smooth path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while keeping lower-pair P/V/A constraints synchronized.</a:t>
            </a:r>
          </a:p>
        </p:txBody>
      </p:sp>
      <p:sp>
        <p:nvSpPr>
          <p:cNvPr id="7" name="Support"/>
          <p:cNvSpPr txBox="1"/>
          <p:nvPr/>
        </p:nvSpPr>
        <p:spPr>
          <a:xfrm>
            <a:off x="1288200" y="3900000"/>
            <a:ext cx="95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Accepted claim: Gauss6/FullVA order-six path.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Comparator: local paper-style m=3 TFE formula target, expected order five.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Non-claims stay explicit: full TFE replacement and external superiority remain open.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Defending the central thesis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20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8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24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400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Question 1 - Can we build a square Lie-group FullVA residual?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41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Question 2 - Does the accepted branch retain sixth-order behavior?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17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Question 3 - Does the same residual vocabulary cover the four ASME examples?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93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Question 4 - What does the evidence not claim?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Roadmap</a:t>
            </a:r>
          </a:p>
        </p:txBody>
      </p:sp>
      <p:sp>
        <p:nvSpPr>
          <p:cNvPr id="5" name="Roadmap box"/>
          <p:cNvSpPr/>
          <p:nvPr/>
        </p:nvSpPr>
        <p:spPr>
          <a:xfrm>
            <a:off x="838200" y="1720000"/>
            <a:ext cx="2450000" cy="34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Roadmap box"/>
          <p:cNvSpPr/>
          <p:nvPr/>
        </p:nvSpPr>
        <p:spPr>
          <a:xfrm>
            <a:off x="3518200" y="1720000"/>
            <a:ext cx="2450000" cy="34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7" name="Roadmap box"/>
          <p:cNvSpPr/>
          <p:nvPr/>
        </p:nvSpPr>
        <p:spPr>
          <a:xfrm>
            <a:off x="6198200" y="1720000"/>
            <a:ext cx="2450000" cy="34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Roadmap box"/>
          <p:cNvSpPr/>
          <p:nvPr/>
        </p:nvSpPr>
        <p:spPr>
          <a:xfrm>
            <a:off x="8878200" y="1720000"/>
            <a:ext cx="2450000" cy="345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9" name="Roadmap num"/>
          <p:cNvSpPr txBox="1"/>
          <p:nvPr/>
        </p:nvSpPr>
        <p:spPr>
          <a:xfrm>
            <a:off x="1018200" y="1980000"/>
            <a:ext cx="540000" cy="5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4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1</a:t>
            </a:r>
          </a:p>
        </p:txBody>
      </p:sp>
      <p:sp>
        <p:nvSpPr>
          <p:cNvPr id="10" name="Roadmap hdr"/>
          <p:cNvSpPr txBox="1"/>
          <p:nvPr/>
        </p:nvSpPr>
        <p:spPr>
          <a:xfrm>
            <a:off x="1018200" y="2770000"/>
            <a:ext cx="20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Method</a:t>
            </a:r>
          </a:p>
        </p:txBody>
      </p:sp>
      <p:sp>
        <p:nvSpPr>
          <p:cNvPr id="11" name="Roadmap desc"/>
          <p:cNvSpPr txBox="1"/>
          <p:nvPr/>
        </p:nvSpPr>
        <p:spPr>
          <a:xfrm>
            <a:off x="1018200" y="3420000"/>
            <a:ext cx="209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Gauss6/FullVA residual</a:t>
            </a:r>
          </a:p>
        </p:txBody>
      </p:sp>
      <p:sp>
        <p:nvSpPr>
          <p:cNvPr id="12" name="Roadmap num"/>
          <p:cNvSpPr txBox="1"/>
          <p:nvPr/>
        </p:nvSpPr>
        <p:spPr>
          <a:xfrm>
            <a:off x="3698200" y="1980000"/>
            <a:ext cx="540000" cy="54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4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  <p:sp>
        <p:nvSpPr>
          <p:cNvPr id="13" name="Roadmap hdr"/>
          <p:cNvSpPr txBox="1"/>
          <p:nvPr/>
        </p:nvSpPr>
        <p:spPr>
          <a:xfrm>
            <a:off x="3698200" y="2770000"/>
            <a:ext cx="20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Claim boundary</a:t>
            </a:r>
          </a:p>
        </p:txBody>
      </p:sp>
      <p:sp>
        <p:nvSpPr>
          <p:cNvPr id="14" name="Roadmap desc"/>
          <p:cNvSpPr txBox="1"/>
          <p:nvPr/>
        </p:nvSpPr>
        <p:spPr>
          <a:xfrm>
            <a:off x="3698200" y="3420000"/>
            <a:ext cx="209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conditional sixth order</a:t>
            </a:r>
          </a:p>
        </p:txBody>
      </p:sp>
      <p:sp>
        <p:nvSpPr>
          <p:cNvPr id="15" name="Roadmap num"/>
          <p:cNvSpPr txBox="1"/>
          <p:nvPr/>
        </p:nvSpPr>
        <p:spPr>
          <a:xfrm>
            <a:off x="6378200" y="1980000"/>
            <a:ext cx="540000" cy="5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4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  <p:sp>
        <p:nvSpPr>
          <p:cNvPr id="16" name="Roadmap hdr"/>
          <p:cNvSpPr txBox="1"/>
          <p:nvPr/>
        </p:nvSpPr>
        <p:spPr>
          <a:xfrm>
            <a:off x="6378200" y="2770000"/>
            <a:ext cx="20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Evidence</a:t>
            </a:r>
          </a:p>
        </p:txBody>
      </p:sp>
      <p:sp>
        <p:nvSpPr>
          <p:cNvPr id="17" name="Roadmap desc"/>
          <p:cNvSpPr txBox="1"/>
          <p:nvPr/>
        </p:nvSpPr>
        <p:spPr>
          <a:xfrm>
            <a:off x="6378200" y="3420000"/>
            <a:ext cx="209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cylindrical chain and ASME examples</a:t>
            </a:r>
          </a:p>
        </p:txBody>
      </p:sp>
      <p:sp>
        <p:nvSpPr>
          <p:cNvPr id="18" name="Roadmap num"/>
          <p:cNvSpPr txBox="1"/>
          <p:nvPr/>
        </p:nvSpPr>
        <p:spPr>
          <a:xfrm>
            <a:off x="9058200" y="1980000"/>
            <a:ext cx="540000" cy="54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spcBef>
                <a:spcPts val="0"/>
              </a:spcBef>
              <a:buNone/>
            </a:pPr>
            <a:r>
              <a:rPr lang="en-US" sz="2400" b="1">
                <a:solidFill>
                  <a:srgbClr val="FFFFFF"/>
                </a:solidFill>
                <a:latin typeface="Anthropic Sans"/>
                <a:ea typeface="Anthropic Sans"/>
                <a:cs typeface="Anthropic Sans"/>
              </a:rPr>
              <a:t>4</a:t>
            </a:r>
          </a:p>
        </p:txBody>
      </p:sp>
      <p:sp>
        <p:nvSpPr>
          <p:cNvPr id="19" name="Roadmap hdr"/>
          <p:cNvSpPr txBox="1"/>
          <p:nvPr/>
        </p:nvSpPr>
        <p:spPr>
          <a:xfrm>
            <a:off x="9058200" y="2770000"/>
            <a:ext cx="209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Diagnostics</a:t>
            </a:r>
          </a:p>
        </p:txBody>
      </p:sp>
      <p:sp>
        <p:nvSpPr>
          <p:cNvPr id="20" name="Roadmap desc"/>
          <p:cNvSpPr txBox="1"/>
          <p:nvPr/>
        </p:nvSpPr>
        <p:spPr>
          <a:xfrm>
            <a:off x="9058200" y="3420000"/>
            <a:ext cx="209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5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external comparison and open gates</a:t>
            </a:r>
          </a:p>
        </p:txBody>
      </p:sp>
      <p:sp>
        <p:nvSpPr>
          <p:cNvPr id="21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3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1 / Method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Gauss6/FullVA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Build the lower-pair constraints into the Newton stage system.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FullVA means three constraint levels</a:t>
            </a:r>
          </a:p>
        </p:txBody>
      </p:sp>
      <p:sp>
        <p:nvSpPr>
          <p:cNvPr id="5" name="Metric card"/>
          <p:cNvSpPr/>
          <p:nvPr/>
        </p:nvSpPr>
        <p:spPr>
          <a:xfrm>
            <a:off x="838200" y="1850000"/>
            <a:ext cx="3398533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Metric accent"/>
          <p:cNvSpPr/>
          <p:nvPr/>
        </p:nvSpPr>
        <p:spPr>
          <a:xfrm>
            <a:off x="838200" y="1850000"/>
            <a:ext cx="3398533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Metric card"/>
          <p:cNvSpPr/>
          <p:nvPr/>
        </p:nvSpPr>
        <p:spPr>
          <a:xfrm>
            <a:off x="4396733" y="1850000"/>
            <a:ext cx="3398533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Metric accent"/>
          <p:cNvSpPr/>
          <p:nvPr/>
        </p:nvSpPr>
        <p:spPr>
          <a:xfrm>
            <a:off x="4396733" y="1850000"/>
            <a:ext cx="3398533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Metric card"/>
          <p:cNvSpPr/>
          <p:nvPr/>
        </p:nvSpPr>
        <p:spPr>
          <a:xfrm>
            <a:off x="7955266" y="1850000"/>
            <a:ext cx="3398533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Metric accent"/>
          <p:cNvSpPr/>
          <p:nvPr/>
        </p:nvSpPr>
        <p:spPr>
          <a:xfrm>
            <a:off x="7955266" y="1850000"/>
            <a:ext cx="3398533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Metric value"/>
          <p:cNvSpPr txBox="1"/>
          <p:nvPr/>
        </p:nvSpPr>
        <p:spPr>
          <a:xfrm>
            <a:off x="958200" y="2270000"/>
            <a:ext cx="3158533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P</a:t>
            </a:r>
          </a:p>
        </p:txBody>
      </p:sp>
      <p:sp>
        <p:nvSpPr>
          <p:cNvPr id="12" name="Metric label"/>
          <p:cNvSpPr txBox="1"/>
          <p:nvPr/>
        </p:nvSpPr>
        <p:spPr>
          <a:xfrm>
            <a:off x="998200" y="3100000"/>
            <a:ext cx="3078533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position: Phi(q) = 0</a:t>
            </a:r>
          </a:p>
        </p:txBody>
      </p:sp>
      <p:sp>
        <p:nvSpPr>
          <p:cNvPr id="13" name="Metric value"/>
          <p:cNvSpPr txBox="1"/>
          <p:nvPr/>
        </p:nvSpPr>
        <p:spPr>
          <a:xfrm>
            <a:off x="4516733" y="2270000"/>
            <a:ext cx="3158533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V</a:t>
            </a:r>
          </a:p>
        </p:txBody>
      </p:sp>
      <p:sp>
        <p:nvSpPr>
          <p:cNvPr id="14" name="Metric label"/>
          <p:cNvSpPr txBox="1"/>
          <p:nvPr/>
        </p:nvSpPr>
        <p:spPr>
          <a:xfrm>
            <a:off x="4556733" y="3100000"/>
            <a:ext cx="3078533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velocity: Phi_q(q) v = nu</a:t>
            </a:r>
          </a:p>
        </p:txBody>
      </p:sp>
      <p:sp>
        <p:nvSpPr>
          <p:cNvPr id="15" name="Metric value"/>
          <p:cNvSpPr txBox="1"/>
          <p:nvPr/>
        </p:nvSpPr>
        <p:spPr>
          <a:xfrm>
            <a:off x="8075266" y="2270000"/>
            <a:ext cx="3158533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A</a:t>
            </a:r>
          </a:p>
        </p:txBody>
      </p:sp>
      <p:sp>
        <p:nvSpPr>
          <p:cNvPr id="16" name="Metric label"/>
          <p:cNvSpPr txBox="1"/>
          <p:nvPr/>
        </p:nvSpPr>
        <p:spPr>
          <a:xfrm>
            <a:off x="8115266" y="3100000"/>
            <a:ext cx="3078533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acceleration: Phi_q a + dot(Phi_q) v = gamma</a:t>
            </a:r>
          </a:p>
        </p:txBody>
      </p:sp>
      <p:sp>
        <p:nvSpPr>
          <p:cNvPr id="17" name="Metric note"/>
          <p:cNvSpPr txBox="1"/>
          <p:nvPr/>
        </p:nvSpPr>
        <p:spPr>
          <a:xfrm>
            <a:off x="838200" y="478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point is not to repair these rows after the step; they live inside the same nonlinear solve.</a:t>
            </a:r>
          </a:p>
        </p:txBody>
      </p:sp>
      <p:sp>
        <p:nvSpPr>
          <p:cNvPr id="1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cylindrical-chain stage solve is square</a:t>
            </a:r>
          </a:p>
        </p:txBody>
      </p:sp>
      <p:sp>
        <p:nvSpPr>
          <p:cNvPr id="5" name="Metric card"/>
          <p:cNvSpPr/>
          <p:nvPr/>
        </p:nvSpPr>
        <p:spPr>
          <a:xfrm>
            <a:off x="8382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Metric accent"/>
          <p:cNvSpPr/>
          <p:nvPr/>
        </p:nvSpPr>
        <p:spPr>
          <a:xfrm>
            <a:off x="838200" y="1850000"/>
            <a:ext cx="2508900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Metric card"/>
          <p:cNvSpPr/>
          <p:nvPr/>
        </p:nvSpPr>
        <p:spPr>
          <a:xfrm>
            <a:off x="35071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Metric accent"/>
          <p:cNvSpPr/>
          <p:nvPr/>
        </p:nvSpPr>
        <p:spPr>
          <a:xfrm>
            <a:off x="3507100" y="1850000"/>
            <a:ext cx="2508900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Metric card"/>
          <p:cNvSpPr/>
          <p:nvPr/>
        </p:nvSpPr>
        <p:spPr>
          <a:xfrm>
            <a:off x="61760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Metric accent"/>
          <p:cNvSpPr/>
          <p:nvPr/>
        </p:nvSpPr>
        <p:spPr>
          <a:xfrm>
            <a:off x="6176000" y="1850000"/>
            <a:ext cx="25089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Metric card"/>
          <p:cNvSpPr/>
          <p:nvPr/>
        </p:nvSpPr>
        <p:spPr>
          <a:xfrm>
            <a:off x="88449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Metric accent"/>
          <p:cNvSpPr/>
          <p:nvPr/>
        </p:nvSpPr>
        <p:spPr>
          <a:xfrm>
            <a:off x="8844900" y="1850000"/>
            <a:ext cx="2508900" cy="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3" name="Metric value"/>
          <p:cNvSpPr txBox="1"/>
          <p:nvPr/>
        </p:nvSpPr>
        <p:spPr>
          <a:xfrm>
            <a:off x="9582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3</a:t>
            </a:r>
          </a:p>
        </p:txBody>
      </p:sp>
      <p:sp>
        <p:nvSpPr>
          <p:cNvPr id="14" name="Metric label"/>
          <p:cNvSpPr txBox="1"/>
          <p:nvPr/>
        </p:nvSpPr>
        <p:spPr>
          <a:xfrm>
            <a:off x="9982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Gauss stages</a:t>
            </a:r>
          </a:p>
        </p:txBody>
      </p:sp>
      <p:sp>
        <p:nvSpPr>
          <p:cNvPr id="15" name="Metric value"/>
          <p:cNvSpPr txBox="1"/>
          <p:nvPr/>
        </p:nvSpPr>
        <p:spPr>
          <a:xfrm>
            <a:off x="36271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  <p:sp>
        <p:nvSpPr>
          <p:cNvPr id="16" name="Metric label"/>
          <p:cNvSpPr txBox="1"/>
          <p:nvPr/>
        </p:nvSpPr>
        <p:spPr>
          <a:xfrm>
            <a:off x="36671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bodies</a:t>
            </a:r>
          </a:p>
        </p:txBody>
      </p:sp>
      <p:sp>
        <p:nvSpPr>
          <p:cNvPr id="17" name="Metric value"/>
          <p:cNvSpPr txBox="1"/>
          <p:nvPr/>
        </p:nvSpPr>
        <p:spPr>
          <a:xfrm>
            <a:off x="62960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2</a:t>
            </a:r>
          </a:p>
        </p:txBody>
      </p:sp>
      <p:sp>
        <p:nvSpPr>
          <p:cNvPr id="18" name="Metric label"/>
          <p:cNvSpPr txBox="1"/>
          <p:nvPr/>
        </p:nvSpPr>
        <p:spPr>
          <a:xfrm>
            <a:off x="63360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lower-pair joints</a:t>
            </a:r>
          </a:p>
        </p:txBody>
      </p:sp>
      <p:sp>
        <p:nvSpPr>
          <p:cNvPr id="19" name="Metric value"/>
          <p:cNvSpPr txBox="1"/>
          <p:nvPr/>
        </p:nvSpPr>
        <p:spPr>
          <a:xfrm>
            <a:off x="89649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132</a:t>
            </a:r>
          </a:p>
        </p:txBody>
      </p:sp>
      <p:sp>
        <p:nvSpPr>
          <p:cNvPr id="20" name="Metric label"/>
          <p:cNvSpPr txBox="1"/>
          <p:nvPr/>
        </p:nvSpPr>
        <p:spPr>
          <a:xfrm>
            <a:off x="90049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unknowns and residual rows</a:t>
            </a:r>
          </a:p>
        </p:txBody>
      </p:sp>
      <p:sp>
        <p:nvSpPr>
          <p:cNvPr id="21" name="Metric note"/>
          <p:cNvSpPr txBox="1"/>
          <p:nvPr/>
        </p:nvSpPr>
        <p:spPr>
          <a:xfrm>
            <a:off x="838200" y="478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For v047, 3 x {2 x 18 body variables + 2 x 4 multipliers} = 132.</a:t>
            </a:r>
          </a:p>
        </p:txBody>
      </p:sp>
      <p:sp>
        <p:nvSpPr>
          <p:cNvPr id="2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Method architecture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method path is Gauss6/FullVA.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Paper TFE rows remain a comparator/diagnostic boundary.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Artifacts bind figures, JSON, CSV, and validators.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Figure from the CMAME package: the accepted residual, proof boundary, and validators are kept separate.</a:t>
            </a:r>
          </a:p>
        </p:txBody>
      </p:sp>
      <p:pic>
        <p:nvPicPr>
          <p:cNvPr id="7" name="method_stag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1491967"/>
            <a:ext cx="7050000" cy="4226066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Newton solves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2070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83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59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435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Subtitle"/>
          <p:cNvSpPr txBox="1"/>
          <p:nvPr/>
        </p:nvSpPr>
        <p:spPr>
          <a:xfrm>
            <a:off x="838200" y="1440000"/>
            <a:ext cx="105156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Compact form: R_G6FVA(q_n, v_n, a_n, Z; h) = 0.</a:t>
            </a:r>
          </a:p>
        </p:txBody>
      </p:sp>
      <p:sp>
        <p:nvSpPr>
          <p:cNvPr id="10" name="Bullet 1"/>
          <p:cNvSpPr txBox="1"/>
          <p:nvPr/>
        </p:nvSpPr>
        <p:spPr>
          <a:xfrm>
            <a:off x="1068200" y="200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Stage kinematics for r, Q, v, omega, a, alpha.</a:t>
            </a:r>
          </a:p>
        </p:txBody>
      </p:sp>
      <p:sp>
        <p:nvSpPr>
          <p:cNvPr id="11" name="Bullet 2"/>
          <p:cNvSpPr txBox="1"/>
          <p:nvPr/>
        </p:nvSpPr>
        <p:spPr>
          <a:xfrm>
            <a:off x="1068200" y="276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Newton-Euler translational and rotational balance.</a:t>
            </a:r>
          </a:p>
        </p:txBody>
      </p:sp>
      <p:sp>
        <p:nvSpPr>
          <p:cNvPr id="12" name="Bullet 3"/>
          <p:cNvSpPr txBox="1"/>
          <p:nvPr/>
        </p:nvSpPr>
        <p:spPr>
          <a:xfrm>
            <a:off x="1068200" y="352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Lower-pair position, velocity, and acceleration rows.</a:t>
            </a:r>
          </a:p>
        </p:txBody>
      </p:sp>
      <p:sp>
        <p:nvSpPr>
          <p:cNvPr id="13" name="Bullet 4"/>
          <p:cNvSpPr txBox="1"/>
          <p:nvPr/>
        </p:nvSpPr>
        <p:spPr>
          <a:xfrm>
            <a:off x="1068200" y="428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Lagrange multipliers in the same 132-row stage vector.</a:t>
            </a:r>
          </a:p>
        </p:txBody>
      </p:sp>
      <p:sp>
        <p:nvSpPr>
          <p:cNvPr id="14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Endpoint closure is audited, not hidden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Endpoint position and velocity closure are checked.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Projection and KKT paths are separated.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accepted order claim is tied to the branch and solver contract.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KKT endpoint closure is part of the accepted v047 audit trail; projection baselines are retained only for comparison.</a:t>
            </a:r>
          </a:p>
        </p:txBody>
      </p:sp>
      <p:pic>
        <p:nvPicPr>
          <p:cNvPr id="7" name="endpoint_kkt_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2249231"/>
            <a:ext cx="7050000" cy="2711538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2 / Claim Boundary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Conditional order, not claim inflation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proof route and the paper-facing comparator have different jobs.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theorem is conditional by design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2070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83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59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435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Subtitle"/>
          <p:cNvSpPr txBox="1"/>
          <p:nvPr/>
        </p:nvSpPr>
        <p:spPr>
          <a:xfrm>
            <a:off x="838200" y="1440000"/>
            <a:ext cx="105156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Observed slopes are downstream consistency evidence, not theorem premises.</a:t>
            </a:r>
          </a:p>
        </p:txBody>
      </p:sp>
      <p:sp>
        <p:nvSpPr>
          <p:cNvPr id="10" name="Bullet 1"/>
          <p:cNvSpPr txBox="1"/>
          <p:nvPr/>
        </p:nvSpPr>
        <p:spPr>
          <a:xfrm>
            <a:off x="1068200" y="200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Assume a smooth FullVA lift on the accepted compact branch.</a:t>
            </a:r>
          </a:p>
        </p:txBody>
      </p:sp>
      <p:sp>
        <p:nvSpPr>
          <p:cNvPr id="11" name="Bullet 2"/>
          <p:cNvSpPr txBox="1"/>
          <p:nvPr/>
        </p:nvSpPr>
        <p:spPr>
          <a:xfrm>
            <a:off x="1068200" y="276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Use the implemented 132-row residual and fixed row scaling.</a:t>
            </a:r>
          </a:p>
        </p:txBody>
      </p:sp>
      <p:sp>
        <p:nvSpPr>
          <p:cNvPr id="12" name="Bullet 3"/>
          <p:cNvSpPr txBox="1"/>
          <p:nvPr/>
        </p:nvSpPr>
        <p:spPr>
          <a:xfrm>
            <a:off x="1068200" y="352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Require local residual defect O(h^7).</a:t>
            </a:r>
          </a:p>
        </p:txBody>
      </p:sp>
      <p:sp>
        <p:nvSpPr>
          <p:cNvPr id="13" name="Bullet 4"/>
          <p:cNvSpPr txBox="1"/>
          <p:nvPr/>
        </p:nvSpPr>
        <p:spPr>
          <a:xfrm>
            <a:off x="1068200" y="428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Require branch-selected Newton scale eta_h^tube &lt;= c_eta h^7.</a:t>
            </a:r>
          </a:p>
        </p:txBody>
      </p:sp>
      <p:sp>
        <p:nvSpPr>
          <p:cNvPr id="14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Formal-order comparison</a:t>
            </a:r>
          </a:p>
        </p:txBody>
      </p:sp>
      <p:sp>
        <p:nvSpPr>
          <p:cNvPr id="5" name="Column"/>
          <p:cNvSpPr/>
          <p:nvPr/>
        </p:nvSpPr>
        <p:spPr>
          <a:xfrm>
            <a:off x="8382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Column accent"/>
          <p:cNvSpPr/>
          <p:nvPr/>
        </p:nvSpPr>
        <p:spPr>
          <a:xfrm>
            <a:off x="838200" y="1560000"/>
            <a:ext cx="5127800" cy="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7" name="Column"/>
          <p:cNvSpPr/>
          <p:nvPr/>
        </p:nvSpPr>
        <p:spPr>
          <a:xfrm>
            <a:off x="62260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Column accent"/>
          <p:cNvSpPr/>
          <p:nvPr/>
        </p:nvSpPr>
        <p:spPr>
          <a:xfrm>
            <a:off x="6226000" y="1560000"/>
            <a:ext cx="51278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Column title"/>
          <p:cNvSpPr txBox="1"/>
          <p:nvPr/>
        </p:nvSpPr>
        <p:spPr>
          <a:xfrm>
            <a:off x="10582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Accepted method</a:t>
            </a:r>
          </a:p>
        </p:txBody>
      </p:sp>
      <p:sp>
        <p:nvSpPr>
          <p:cNvPr id="10" name="Column body"/>
          <p:cNvSpPr txBox="1"/>
          <p:nvPr/>
        </p:nvSpPr>
        <p:spPr>
          <a:xfrm>
            <a:off x="10582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Gauss6/FullVA.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Method-order claim: 6.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Smooth observed orders: 7.161 position, 7.066 velocity.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Four ASME examples covered under the method gate.</a:t>
            </a:r>
          </a:p>
        </p:txBody>
      </p:sp>
      <p:sp>
        <p:nvSpPr>
          <p:cNvPr id="11" name="Column title"/>
          <p:cNvSpPr txBox="1"/>
          <p:nvPr/>
        </p:nvSpPr>
        <p:spPr>
          <a:xfrm>
            <a:off x="64460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Comparator boundary</a:t>
            </a:r>
          </a:p>
        </p:txBody>
      </p:sp>
      <p:sp>
        <p:nvSpPr>
          <p:cNvPr id="12" name="Column body"/>
          <p:cNvSpPr txBox="1"/>
          <p:nvPr/>
        </p:nvSpPr>
        <p:spPr>
          <a:xfrm>
            <a:off x="64460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Local paper-style m=3 Gauss-Lobatto TFE target.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Expected formula order: 2m - 1 = 5.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Not a claim that the source-paper residual has been reimplemented.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Not an external same-test superiority claim.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Allowed and forbidden statements</a:t>
            </a:r>
          </a:p>
        </p:txBody>
      </p:sp>
      <p:sp>
        <p:nvSpPr>
          <p:cNvPr id="5" name="Column"/>
          <p:cNvSpPr/>
          <p:nvPr/>
        </p:nvSpPr>
        <p:spPr>
          <a:xfrm>
            <a:off x="8382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Column accent"/>
          <p:cNvSpPr/>
          <p:nvPr/>
        </p:nvSpPr>
        <p:spPr>
          <a:xfrm>
            <a:off x="838200" y="1560000"/>
            <a:ext cx="5127800" cy="9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7" name="Column"/>
          <p:cNvSpPr/>
          <p:nvPr/>
        </p:nvSpPr>
        <p:spPr>
          <a:xfrm>
            <a:off x="6226000" y="1560000"/>
            <a:ext cx="5127800" cy="39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Column accent"/>
          <p:cNvSpPr/>
          <p:nvPr/>
        </p:nvSpPr>
        <p:spPr>
          <a:xfrm>
            <a:off x="6226000" y="1560000"/>
            <a:ext cx="51278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Column title"/>
          <p:cNvSpPr txBox="1"/>
          <p:nvPr/>
        </p:nvSpPr>
        <p:spPr>
          <a:xfrm>
            <a:off x="10582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Allowed</a:t>
            </a:r>
          </a:p>
        </p:txBody>
      </p:sp>
      <p:sp>
        <p:nvSpPr>
          <p:cNvPr id="10" name="Column body"/>
          <p:cNvSpPr txBox="1"/>
          <p:nvPr/>
        </p:nvSpPr>
        <p:spPr>
          <a:xfrm>
            <a:off x="10582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Gauss6/FullVA is the accepted production path.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local formal-order comparator is order five.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current four-example mechanism coverage gate is accepted.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Common-reference diagnostics can be shown as diagnostics.</a:t>
            </a:r>
          </a:p>
        </p:txBody>
      </p:sp>
      <p:sp>
        <p:nvSpPr>
          <p:cNvPr id="11" name="Column title"/>
          <p:cNvSpPr txBox="1"/>
          <p:nvPr/>
        </p:nvSpPr>
        <p:spPr>
          <a:xfrm>
            <a:off x="6446000" y="1830000"/>
            <a:ext cx="46878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Forbidden for this deck</a:t>
            </a:r>
          </a:p>
        </p:txBody>
      </p:sp>
      <p:sp>
        <p:nvSpPr>
          <p:cNvPr id="12" name="Column body"/>
          <p:cNvSpPr txBox="1"/>
          <p:nvPr/>
        </p:nvSpPr>
        <p:spPr>
          <a:xfrm>
            <a:off x="6446000" y="2440000"/>
            <a:ext cx="46878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 superiority is accepted.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Complete source-paper TFE residual reproduction is accepted.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 TFE stage replacement is solved.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8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Default 1e-4 public-policy runs are required.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3 / Evidence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the artifacts show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talk follows the same evidence boundaries as the paper package.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Smooth cylindrical chain: high-order consistency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Step sizes: h = 0.04, 0.02, 0.01.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This supports the conditional order-six path.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is not a seventh-order theorem.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Headline v047 smooth h-sweep: position order 7.161, velocity order 7.066 against reference h=0.005.</a:t>
            </a:r>
          </a:p>
        </p:txBody>
      </p:sp>
      <p:pic>
        <p:nvPicPr>
          <p:cNvPr id="7" name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72" y="1480000"/>
            <a:ext cx="5314855" cy="425000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four ASME mechanisms use the same constraint vocabulary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gate is about mechanism coverage.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Rows are checked at position, velocity, and acceleration levels.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same FullVA vocabulary is used across the examples.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bridge maps CD, DP1, DP2, and D lower-pair rows across single pendulum, double pendulum, four-link, and slider-crank.</a:t>
            </a:r>
          </a:p>
        </p:txBody>
      </p:sp>
      <p:pic>
        <p:nvPicPr>
          <p:cNvPr id="7" name="asme_lower_pair_graph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228" y="1480000"/>
            <a:ext cx="4899943" cy="425000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Example-level order boundary</a:t>
            </a:r>
          </a:p>
        </p:txBody>
      </p:sp>
      <p:sp>
        <p:nvSpPr>
          <p:cNvPr id="5" name="Metric card"/>
          <p:cNvSpPr/>
          <p:nvPr/>
        </p:nvSpPr>
        <p:spPr>
          <a:xfrm>
            <a:off x="8382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Metric accent"/>
          <p:cNvSpPr/>
          <p:nvPr/>
        </p:nvSpPr>
        <p:spPr>
          <a:xfrm>
            <a:off x="838200" y="1850000"/>
            <a:ext cx="2508900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Metric card"/>
          <p:cNvSpPr/>
          <p:nvPr/>
        </p:nvSpPr>
        <p:spPr>
          <a:xfrm>
            <a:off x="35071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Metric accent"/>
          <p:cNvSpPr/>
          <p:nvPr/>
        </p:nvSpPr>
        <p:spPr>
          <a:xfrm>
            <a:off x="3507100" y="1850000"/>
            <a:ext cx="2508900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9" name="Metric card"/>
          <p:cNvSpPr/>
          <p:nvPr/>
        </p:nvSpPr>
        <p:spPr>
          <a:xfrm>
            <a:off x="61760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Metric accent"/>
          <p:cNvSpPr/>
          <p:nvPr/>
        </p:nvSpPr>
        <p:spPr>
          <a:xfrm>
            <a:off x="6176000" y="1850000"/>
            <a:ext cx="25089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1" name="Metric card"/>
          <p:cNvSpPr/>
          <p:nvPr/>
        </p:nvSpPr>
        <p:spPr>
          <a:xfrm>
            <a:off x="88449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Metric accent"/>
          <p:cNvSpPr/>
          <p:nvPr/>
        </p:nvSpPr>
        <p:spPr>
          <a:xfrm>
            <a:off x="8844900" y="1850000"/>
            <a:ext cx="2508900" cy="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13" name="Metric value"/>
          <p:cNvSpPr txBox="1"/>
          <p:nvPr/>
        </p:nvSpPr>
        <p:spPr>
          <a:xfrm>
            <a:off x="9582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6.024</a:t>
            </a:r>
          </a:p>
        </p:txBody>
      </p:sp>
      <p:sp>
        <p:nvSpPr>
          <p:cNvPr id="14" name="Metric label"/>
          <p:cNvSpPr txBox="1"/>
          <p:nvPr/>
        </p:nvSpPr>
        <p:spPr>
          <a:xfrm>
            <a:off x="9982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single pendulum min accepted dynamic order</a:t>
            </a:r>
          </a:p>
        </p:txBody>
      </p:sp>
      <p:sp>
        <p:nvSpPr>
          <p:cNvPr id="15" name="Metric value"/>
          <p:cNvSpPr txBox="1"/>
          <p:nvPr/>
        </p:nvSpPr>
        <p:spPr>
          <a:xfrm>
            <a:off x="36271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6.089</a:t>
            </a:r>
          </a:p>
        </p:txBody>
      </p:sp>
      <p:sp>
        <p:nvSpPr>
          <p:cNvPr id="16" name="Metric label"/>
          <p:cNvSpPr txBox="1"/>
          <p:nvPr/>
        </p:nvSpPr>
        <p:spPr>
          <a:xfrm>
            <a:off x="36671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double pendulum min accepted dynamic order</a:t>
            </a:r>
          </a:p>
        </p:txBody>
      </p:sp>
      <p:sp>
        <p:nvSpPr>
          <p:cNvPr id="17" name="Metric value"/>
          <p:cNvSpPr txBox="1"/>
          <p:nvPr/>
        </p:nvSpPr>
        <p:spPr>
          <a:xfrm>
            <a:off x="62960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1.34e-13</a:t>
            </a:r>
          </a:p>
        </p:txBody>
      </p:sp>
      <p:sp>
        <p:nvSpPr>
          <p:cNvPr id="18" name="Metric label"/>
          <p:cNvSpPr txBox="1"/>
          <p:nvPr/>
        </p:nvSpPr>
        <p:spPr>
          <a:xfrm>
            <a:off x="63360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four-link max reaction dynamics residual</a:t>
            </a:r>
          </a:p>
        </p:txBody>
      </p:sp>
      <p:sp>
        <p:nvSpPr>
          <p:cNvPr id="19" name="Metric value"/>
          <p:cNvSpPr txBox="1"/>
          <p:nvPr/>
        </p:nvSpPr>
        <p:spPr>
          <a:xfrm>
            <a:off x="89649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6.49e-15</a:t>
            </a:r>
          </a:p>
        </p:txBody>
      </p:sp>
      <p:sp>
        <p:nvSpPr>
          <p:cNvPr id="20" name="Metric label"/>
          <p:cNvSpPr txBox="1"/>
          <p:nvPr/>
        </p:nvSpPr>
        <p:spPr>
          <a:xfrm>
            <a:off x="90049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slider-crank max reaction dynamics residual</a:t>
            </a:r>
          </a:p>
        </p:txBody>
      </p:sp>
      <p:sp>
        <p:nvSpPr>
          <p:cNvPr id="21" name="Metric note"/>
          <p:cNvSpPr txBox="1"/>
          <p:nvPr/>
        </p:nvSpPr>
        <p:spPr>
          <a:xfrm>
            <a:off x="838200" y="478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Single and double pendulum carry accepted dynamic-order evidence; four-link and slider-crank are coverage/reaction evidence.</a:t>
            </a:r>
          </a:p>
        </p:txBody>
      </p:sp>
      <p:sp>
        <p:nvSpPr>
          <p:cNvPr id="2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Single and double pendulum carry dynamic-order rows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20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8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24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400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Single pendulum: absolute-coordinate driven FullVA residual, minimum observed order 6.024.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41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Double pendulum: method-side FullVA mapping, nested local reference policy, minimum observed order 6.089.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17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Both rows support the method-side dynamic order claim.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93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They stay separate from external source-policy claims.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Four-link and slider-crank close the kinematic loop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These rows are accepted mechanism coverage.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They are not promoted to external dynamic-order rows.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Reaction reconstruction is checked separately.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Closed-loop FullVA solves enforce Phi=0, Phi_q qdot=nu, and Phi_q qdd=gamma for the two mechanisms.</a:t>
            </a:r>
          </a:p>
        </p:txBody>
      </p:sp>
      <p:pic>
        <p:nvPicPr>
          <p:cNvPr id="7" name="asme_closed_loop_kinematic_full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2259091"/>
            <a:ext cx="7050000" cy="2691818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Reaction dynamics closes after kinematics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20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8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24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400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Four-link max full dynamics residual: 1.338e-13.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41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Slider-crank max full dynamics residual: 6.492e-15.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17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multipliers are reconstructed from accepted kinematic states.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93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This supports mechanism coverage, not source-policy superiority.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Closed-loop true-dynamic candidates are now visible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Four-link primary orders near 5.96 to 6.09.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Slider-crank primary orders near 6.16 to 7.34.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Same-test external promotion is still open.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v048 adds coarse true-dynamic local candidates for four-link and slider-crank, but keeps them out of external-superiority claims.</a:t>
            </a:r>
          </a:p>
        </p:txBody>
      </p:sp>
      <p:pic>
        <p:nvPicPr>
          <p:cNvPr id="7" name="closed_loop_true_dynamic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775" y="1480000"/>
            <a:ext cx="5592849" cy="425000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Common-reference work/precision is diagnostic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Common-reference cells are useful for comparison.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Source-policy rows remain open.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deck should call this diagnostic evidence.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same-window common-reference rows make error/work visible without closing source-policy superiority.</a:t>
            </a:r>
          </a:p>
        </p:txBody>
      </p:sp>
      <p:pic>
        <p:nvPicPr>
          <p:cNvPr id="7" name="strict_common_reference_work_pr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2097094"/>
            <a:ext cx="7050000" cy="3015811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All-method result matrix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44 method/example cells are checked in the current common-reference matrix.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40/40 nonlocal velocity-order comparisons are positive.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Those counts do not become source-paper superiority.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paper package records all method/example cells while preserving the non-claim boundary for external rows.</a:t>
            </a:r>
          </a:p>
        </p:txBody>
      </p:sp>
      <p:pic>
        <p:nvPicPr>
          <p:cNvPr id="7" name="all_method_resul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178" y="1480000"/>
            <a:ext cx="5248043" cy="425000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ection rule"/>
          <p:cNvSpPr/>
          <p:nvPr/>
        </p:nvSpPr>
        <p:spPr>
          <a:xfrm>
            <a:off x="838200" y="2200000"/>
            <a:ext cx="10515600" cy="3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Section label"/>
          <p:cNvSpPr txBox="1"/>
          <p:nvPr/>
        </p:nvSpPr>
        <p:spPr>
          <a:xfrm>
            <a:off x="838200" y="1330000"/>
            <a:ext cx="280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8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4 / Boundaries</a:t>
            </a:r>
          </a:p>
        </p:txBody>
      </p:sp>
      <p:sp>
        <p:nvSpPr>
          <p:cNvPr id="5" name="Section title"/>
          <p:cNvSpPr txBox="1"/>
          <p:nvPr/>
        </p:nvSpPr>
        <p:spPr>
          <a:xfrm>
            <a:off x="838200" y="2380000"/>
            <a:ext cx="102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8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What remains open</a:t>
            </a:r>
          </a:p>
        </p:txBody>
      </p:sp>
      <p:sp>
        <p:nvSpPr>
          <p:cNvPr id="6" name="Section subtitle"/>
          <p:cNvSpPr txBox="1"/>
          <p:nvPr/>
        </p:nvSpPr>
        <p:spPr>
          <a:xfrm>
            <a:off x="838200" y="3420000"/>
            <a:ext cx="92000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negative space is part of the scientific result.</a:t>
            </a:r>
          </a:p>
        </p:txBody>
      </p:sp>
      <p:sp>
        <p:nvSpPr>
          <p:cNvPr id="7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 comparison is not submission-ready</a:t>
            </a:r>
          </a:p>
        </p:txBody>
      </p:sp>
      <p:sp>
        <p:nvSpPr>
          <p:cNvPr id="5" name="Metric card"/>
          <p:cNvSpPr/>
          <p:nvPr/>
        </p:nvSpPr>
        <p:spPr>
          <a:xfrm>
            <a:off x="8382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6" name="Metric accent"/>
          <p:cNvSpPr/>
          <p:nvPr/>
        </p:nvSpPr>
        <p:spPr>
          <a:xfrm>
            <a:off x="838200" y="1850000"/>
            <a:ext cx="2508900" cy="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7" name="Metric card"/>
          <p:cNvSpPr/>
          <p:nvPr/>
        </p:nvSpPr>
        <p:spPr>
          <a:xfrm>
            <a:off x="35071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8" name="Metric accent"/>
          <p:cNvSpPr/>
          <p:nvPr/>
        </p:nvSpPr>
        <p:spPr>
          <a:xfrm>
            <a:off x="3507100" y="1850000"/>
            <a:ext cx="2508900" cy="8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9" name="Metric card"/>
          <p:cNvSpPr/>
          <p:nvPr/>
        </p:nvSpPr>
        <p:spPr>
          <a:xfrm>
            <a:off x="61760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0" name="Metric accent"/>
          <p:cNvSpPr/>
          <p:nvPr/>
        </p:nvSpPr>
        <p:spPr>
          <a:xfrm>
            <a:off x="6176000" y="1850000"/>
            <a:ext cx="2508900" cy="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11" name="Metric card"/>
          <p:cNvSpPr/>
          <p:nvPr/>
        </p:nvSpPr>
        <p:spPr>
          <a:xfrm>
            <a:off x="8844900" y="1850000"/>
            <a:ext cx="2508900" cy="2300000"/>
          </a:xfrm>
          <a:prstGeom prst="rect">
            <a:avLst/>
          </a:prstGeom>
          <a:solidFill>
            <a:srgbClr val="F4F5F7"/>
          </a:solidFill>
          <a:ln w="12700">
            <a:solidFill>
              <a:srgbClr val="D9DDE3"/>
            </a:solidFill>
          </a:ln>
        </p:spPr>
      </p:sp>
      <p:sp>
        <p:nvSpPr>
          <p:cNvPr id="12" name="Metric accent"/>
          <p:cNvSpPr/>
          <p:nvPr/>
        </p:nvSpPr>
        <p:spPr>
          <a:xfrm>
            <a:off x="8844900" y="1850000"/>
            <a:ext cx="2508900" cy="8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</p:sp>
      <p:sp>
        <p:nvSpPr>
          <p:cNvPr id="13" name="Metric value"/>
          <p:cNvSpPr txBox="1"/>
          <p:nvPr/>
        </p:nvSpPr>
        <p:spPr>
          <a:xfrm>
            <a:off x="9582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32/48</a:t>
            </a:r>
          </a:p>
        </p:txBody>
      </p:sp>
      <p:sp>
        <p:nvSpPr>
          <p:cNvPr id="14" name="Metric label"/>
          <p:cNvSpPr txBox="1"/>
          <p:nvPr/>
        </p:nvSpPr>
        <p:spPr>
          <a:xfrm>
            <a:off x="9982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performance matrix rows completed</a:t>
            </a:r>
          </a:p>
        </p:txBody>
      </p:sp>
      <p:sp>
        <p:nvSpPr>
          <p:cNvPr id="15" name="Metric value"/>
          <p:cNvSpPr txBox="1"/>
          <p:nvPr/>
        </p:nvSpPr>
        <p:spPr>
          <a:xfrm>
            <a:off x="36271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ED7D31"/>
                </a:solidFill>
                <a:latin typeface="Anthropic Sans"/>
                <a:ea typeface="Anthropic Sans"/>
                <a:cs typeface="Anthropic Sans"/>
              </a:rPr>
              <a:t>0/40</a:t>
            </a:r>
          </a:p>
        </p:txBody>
      </p:sp>
      <p:sp>
        <p:nvSpPr>
          <p:cNvPr id="16" name="Metric label"/>
          <p:cNvSpPr txBox="1"/>
          <p:nvPr/>
        </p:nvSpPr>
        <p:spPr>
          <a:xfrm>
            <a:off x="36671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source-policy rows promoted</a:t>
            </a:r>
          </a:p>
        </p:txBody>
      </p:sp>
      <p:sp>
        <p:nvSpPr>
          <p:cNvPr id="17" name="Metric value"/>
          <p:cNvSpPr txBox="1"/>
          <p:nvPr/>
        </p:nvSpPr>
        <p:spPr>
          <a:xfrm>
            <a:off x="62960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4472C4"/>
                </a:solidFill>
                <a:latin typeface="Anthropic Sans"/>
                <a:ea typeface="Anthropic Sans"/>
                <a:cs typeface="Anthropic Sans"/>
              </a:rPr>
              <a:t>not run</a:t>
            </a:r>
          </a:p>
        </p:txBody>
      </p:sp>
      <p:sp>
        <p:nvSpPr>
          <p:cNvPr id="18" name="Metric label"/>
          <p:cNvSpPr txBox="1"/>
          <p:nvPr/>
        </p:nvSpPr>
        <p:spPr>
          <a:xfrm>
            <a:off x="63360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 same-test campaign status</a:t>
            </a:r>
          </a:p>
        </p:txBody>
      </p:sp>
      <p:sp>
        <p:nvSpPr>
          <p:cNvPr id="19" name="Metric value"/>
          <p:cNvSpPr txBox="1"/>
          <p:nvPr/>
        </p:nvSpPr>
        <p:spPr>
          <a:xfrm>
            <a:off x="8964900" y="2270000"/>
            <a:ext cx="2268900" cy="6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300" b="1">
                <a:solidFill>
                  <a:srgbClr val="2E7D32"/>
                </a:solidFill>
                <a:latin typeface="Anthropic Sans"/>
                <a:ea typeface="Anthropic Sans"/>
                <a:cs typeface="Anthropic Sans"/>
              </a:rPr>
              <a:t>false</a:t>
            </a:r>
          </a:p>
        </p:txBody>
      </p:sp>
      <p:sp>
        <p:nvSpPr>
          <p:cNvPr id="20" name="Metric label"/>
          <p:cNvSpPr txBox="1"/>
          <p:nvPr/>
        </p:nvSpPr>
        <p:spPr>
          <a:xfrm>
            <a:off x="9004900" y="3100000"/>
            <a:ext cx="2188900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5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external superiority claim</a:t>
            </a:r>
          </a:p>
        </p:txBody>
      </p:sp>
      <p:sp>
        <p:nvSpPr>
          <p:cNvPr id="21" name="Metric note"/>
          <p:cNvSpPr txBox="1"/>
          <p:nvPr/>
        </p:nvSpPr>
        <p:spPr>
          <a:xfrm>
            <a:off x="838200" y="4780000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current package supports a narrowed Gauss6/FullVA claim, not a global source-policy claim.</a:t>
            </a:r>
          </a:p>
        </p:txBody>
      </p:sp>
      <p:sp>
        <p:nvSpPr>
          <p:cNvPr id="22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23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24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 TFE replacement remains open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Full TFE replacement is a stronger source-paper reproduction gate.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It is not required for the accepted formal-order comparison.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Current candidates do not satisfy both terminal closure and order.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strongest source-free closures split terminal velocity closure from smooth order recovery.</a:t>
            </a:r>
          </a:p>
        </p:txBody>
      </p:sp>
      <p:pic>
        <p:nvPicPr>
          <p:cNvPr id="7" name="order_closure_bl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2667975"/>
            <a:ext cx="7050000" cy="187405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lower-pair closure gap is localized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The missing complement has eight lower-pair directions.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Many terminal-limit and source-transport variants are ruled out.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Next progress needs a revised analytical weak-row formula.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Velocity-compression audits show that target-free non-final rows do not span the missing closure directions.</a:t>
            </a:r>
          </a:p>
        </p:txBody>
      </p:sp>
      <p:pic>
        <p:nvPicPr>
          <p:cNvPr id="7" name="velocity_com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2623460"/>
            <a:ext cx="7050000" cy="196308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Sparse backend: correct, not yet faster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Exact pattern: 2637 entries.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Row colors: 60 versus 90 column colors.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Needed row-runtime reduction: about 18% to match dense.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sparse pattern is exact and row-VJP reduces colors, but dense jacfwd is still faster in the recorded wall-clock runs.</a:t>
            </a:r>
          </a:p>
        </p:txBody>
      </p:sp>
      <p:pic>
        <p:nvPicPr>
          <p:cNvPr id="7" name="sparse_speed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200" y="2299444"/>
            <a:ext cx="7050000" cy="2611111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Sharp friction is a practical cost caveat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2070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83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59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435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Subtitle"/>
          <p:cNvSpPr txBox="1"/>
          <p:nvPr/>
        </p:nvSpPr>
        <p:spPr>
          <a:xfrm>
            <a:off x="838200" y="1440000"/>
            <a:ext cx="105156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6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method claim rests on the smooth conditional path; sharp-friction coarse behavior is reported as a limitation.</a:t>
            </a:r>
          </a:p>
        </p:txBody>
      </p:sp>
      <p:sp>
        <p:nvSpPr>
          <p:cNvPr id="10" name="Bullet 1"/>
          <p:cNvSpPr txBox="1"/>
          <p:nvPr/>
        </p:nvSpPr>
        <p:spPr>
          <a:xfrm>
            <a:off x="1068200" y="200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Smooth case: position/velocity orders 7.161/7.066.</a:t>
            </a:r>
          </a:p>
        </p:txBody>
      </p:sp>
      <p:sp>
        <p:nvSpPr>
          <p:cNvPr id="11" name="Bullet 2"/>
          <p:cNvSpPr txBox="1"/>
          <p:nvPr/>
        </p:nvSpPr>
        <p:spPr>
          <a:xfrm>
            <a:off x="1068200" y="276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Sharp coarse h-sweep at vs=0.05: orders 1.894/2.683.</a:t>
            </a:r>
          </a:p>
        </p:txBody>
      </p:sp>
      <p:sp>
        <p:nvSpPr>
          <p:cNvPr id="12" name="Bullet 3"/>
          <p:cNvSpPr txBox="1"/>
          <p:nvPr/>
        </p:nvSpPr>
        <p:spPr>
          <a:xfrm>
            <a:off x="1068200" y="352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Ultra refinement recovers high order: 7.521/5.725.</a:t>
            </a:r>
          </a:p>
        </p:txBody>
      </p:sp>
      <p:sp>
        <p:nvSpPr>
          <p:cNvPr id="13" name="Bullet 4"/>
          <p:cNvSpPr txBox="1"/>
          <p:nvPr/>
        </p:nvSpPr>
        <p:spPr>
          <a:xfrm>
            <a:off x="1068200" y="428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Recovery costs about 7.25x runtime versus the h=0.01 baseline.</a:t>
            </a:r>
          </a:p>
        </p:txBody>
      </p:sp>
      <p:sp>
        <p:nvSpPr>
          <p:cNvPr id="14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Claim boundary map</a:t>
            </a:r>
          </a:p>
        </p:txBody>
      </p:sp>
      <p:sp>
        <p:nvSpPr>
          <p:cNvPr id="5" name="Side bullets"/>
          <p:cNvSpPr txBox="1"/>
          <p:nvPr/>
        </p:nvSpPr>
        <p:spPr>
          <a:xfrm>
            <a:off x="838200" y="1550000"/>
            <a:ext cx="3150000" cy="4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Green: accepted method/evidence.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Orange: bounded diagnostic evidence.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17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Open: source-policy rows, full TFE replacement, external superiority.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838200" y="5910000"/>
            <a:ext cx="10515600" cy="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The accepted claim, diagnostic evidence, and open gates are intentionally separated.</a:t>
            </a:r>
          </a:p>
        </p:txBody>
      </p:sp>
      <p:pic>
        <p:nvPicPr>
          <p:cNvPr id="7" name="claim_boundary_limi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256" y="1480000"/>
            <a:ext cx="5387888" cy="4250000"/>
          </a:xfrm>
          <a:prstGeom prst="rect">
            <a:avLst/>
          </a:prstGeom>
        </p:spPr>
      </p:pic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Conclusion</a:t>
            </a:r>
          </a:p>
        </p:txBody>
      </p:sp>
      <p:sp>
        <p:nvSpPr>
          <p:cNvPr id="5" name="Accent"/>
          <p:cNvSpPr/>
          <p:nvPr/>
        </p:nvSpPr>
        <p:spPr>
          <a:xfrm>
            <a:off x="838200" y="3890000"/>
            <a:ext cx="55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Headline"/>
          <p:cNvSpPr txBox="1"/>
          <p:nvPr/>
        </p:nvSpPr>
        <p:spPr>
          <a:xfrm>
            <a:off x="838200" y="1700000"/>
            <a:ext cx="10515600" cy="1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Gauss6/FullVA is a usable sixth-order lower-pair path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3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when the smooth branch and solver-scale contracts hold.</a:t>
            </a:r>
          </a:p>
        </p:txBody>
      </p:sp>
      <p:sp>
        <p:nvSpPr>
          <p:cNvPr id="7" name="Support"/>
          <p:cNvSpPr txBox="1"/>
          <p:nvPr/>
        </p:nvSpPr>
        <p:spPr>
          <a:xfrm>
            <a:off x="1288200" y="3900000"/>
            <a:ext cx="9500000" cy="1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It solves a monolithic 132-row stage residual for the cylindrical chain.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It passes the four ASME mechanism gate under the stated evidence roles.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It exceeds the local order-five m=3 TFE formula target at the formal-order level.</a:t>
            </a:r>
          </a:p>
          <a:p>
            <a:pPr algn="l">
              <a:spcBef>
                <a:spcPts val="650"/>
              </a:spcBef>
              <a:buNone/>
            </a:pPr>
            <a:r>
              <a:rPr lang="en-US" sz="2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It does not claim full source-paper residual replacement or external superiority.</a:t>
            </a:r>
          </a:p>
        </p:txBody>
      </p:sp>
      <p:sp>
        <p:nvSpPr>
          <p:cNvPr id="8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0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itle rule"/>
          <p:cNvSpPr/>
          <p:nvPr/>
        </p:nvSpPr>
        <p:spPr>
          <a:xfrm>
            <a:off x="838200" y="1240000"/>
            <a:ext cx="10515600" cy="2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838200" y="365125"/>
            <a:ext cx="10515600" cy="8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30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Open problems</a:t>
            </a:r>
          </a:p>
        </p:txBody>
      </p:sp>
      <p:sp>
        <p:nvSpPr>
          <p:cNvPr id="5" name="Bullet mark"/>
          <p:cNvSpPr/>
          <p:nvPr/>
        </p:nvSpPr>
        <p:spPr>
          <a:xfrm>
            <a:off x="838200" y="1720000"/>
            <a:ext cx="105000" cy="105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6" name="Bullet mark"/>
          <p:cNvSpPr/>
          <p:nvPr/>
        </p:nvSpPr>
        <p:spPr>
          <a:xfrm>
            <a:off x="838200" y="248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7" name="Bullet mark"/>
          <p:cNvSpPr/>
          <p:nvPr/>
        </p:nvSpPr>
        <p:spPr>
          <a:xfrm>
            <a:off x="838200" y="324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8" name="Bullet mark"/>
          <p:cNvSpPr/>
          <p:nvPr/>
        </p:nvSpPr>
        <p:spPr>
          <a:xfrm>
            <a:off x="838200" y="4000000"/>
            <a:ext cx="105000" cy="1050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9" name="Bullet 1"/>
          <p:cNvSpPr txBox="1"/>
          <p:nvPr/>
        </p:nvSpPr>
        <p:spPr>
          <a:xfrm>
            <a:off x="1068200" y="165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Close or explicitly demote the remaining external source-policy suites.</a:t>
            </a:r>
          </a:p>
        </p:txBody>
      </p:sp>
      <p:sp>
        <p:nvSpPr>
          <p:cNvPr id="10" name="Bullet 2"/>
          <p:cNvSpPr txBox="1"/>
          <p:nvPr/>
        </p:nvSpPr>
        <p:spPr>
          <a:xfrm>
            <a:off x="1068200" y="241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Derive an independent full-TFE weak-row replacement that closes terminal velocity and preserves smooth order.</a:t>
            </a:r>
          </a:p>
        </p:txBody>
      </p:sp>
      <p:sp>
        <p:nvSpPr>
          <p:cNvPr id="11" name="Bullet 3"/>
          <p:cNvSpPr txBox="1"/>
          <p:nvPr/>
        </p:nvSpPr>
        <p:spPr>
          <a:xfrm>
            <a:off x="1068200" y="317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Turn exact sparse structure into a stable wall-clock win.</a:t>
            </a:r>
          </a:p>
        </p:txBody>
      </p:sp>
      <p:sp>
        <p:nvSpPr>
          <p:cNvPr id="12" name="Bullet 4"/>
          <p:cNvSpPr txBox="1"/>
          <p:nvPr/>
        </p:nvSpPr>
        <p:spPr>
          <a:xfrm>
            <a:off x="1068200" y="3930000"/>
            <a:ext cx="99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2100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Reduce sharp-friction cost while keeping high-order behavior in practical step ranges.</a:t>
            </a:r>
          </a:p>
        </p:txBody>
      </p:sp>
      <p:sp>
        <p:nvSpPr>
          <p:cNvPr id="13" name="Date"/>
          <p:cNvSpPr txBox="1"/>
          <p:nvPr/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06/09/2026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University of Wisconsin - Madison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d spine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4" name="Thanks"/>
          <p:cNvSpPr txBox="1"/>
          <p:nvPr/>
        </p:nvSpPr>
        <p:spPr>
          <a:xfrm>
            <a:off x="760000" y="1470000"/>
            <a:ext cx="10500000" cy="8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4400" b="1">
                <a:solidFill>
                  <a:srgbClr val="222222"/>
                </a:solidFill>
                <a:latin typeface="Anthropic Sans"/>
                <a:ea typeface="Anthropic Sans"/>
                <a:cs typeface="Anthropic Sans"/>
              </a:rPr>
              <a:t>Thank You</a:t>
            </a:r>
          </a:p>
        </p:txBody>
      </p:sp>
      <p:sp>
        <p:nvSpPr>
          <p:cNvPr id="5" name="Questions"/>
          <p:cNvSpPr txBox="1"/>
          <p:nvPr/>
        </p:nvSpPr>
        <p:spPr>
          <a:xfrm>
            <a:off x="760000" y="2650000"/>
            <a:ext cx="105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3200" b="1">
                <a:solidFill>
                  <a:srgbClr val="C00000"/>
                </a:solidFill>
                <a:latin typeface="Anthropic Sans"/>
                <a:ea typeface="Anthropic Sans"/>
                <a:cs typeface="Anthropic Sans"/>
              </a:rPr>
              <a:t>Questions?</a:t>
            </a:r>
          </a:p>
        </p:txBody>
      </p:sp>
      <p:sp>
        <p:nvSpPr>
          <p:cNvPr id="6" name="Closing note"/>
          <p:cNvSpPr txBox="1"/>
          <p:nvPr/>
        </p:nvSpPr>
        <p:spPr>
          <a:xfrm>
            <a:off x="1200000" y="4350000"/>
            <a:ext cx="97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spcBef>
                <a:spcPts val="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Accepted claim: conditional sixth-order Gauss6/FullVA path</a:t>
            </a:r>
          </a:p>
          <a:p>
            <a:pPr algn="ctr">
              <a:spcBef>
                <a:spcPts val="650"/>
              </a:spcBef>
              <a:buNone/>
            </a:pPr>
            <a:r>
              <a:rPr lang="en-US" sz="1800">
                <a:solidFill>
                  <a:srgbClr val="666666"/>
                </a:solidFill>
                <a:latin typeface="Anthropic Sans"/>
                <a:ea typeface="Anthropic Sans"/>
                <a:cs typeface="Anthropic Sans"/>
              </a:rPr>
              <a:t>Open boundary: source-policy/full-TFE/external superiority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0</Notes>
  <HiddenSlides>0</HiddenSlides>
  <ScaleCrop>false</ScaleCrop>
  <HeadingPairs>
    <vt:vector size="2" baseType="variant">
      <vt:variant>
        <vt:lpstr>Slide Titles</vt:lpstr>
      </vt:variant>
      <vt:variant>
        <vt:i4>36</vt:i4>
      </vt:variant>
    </vt:vector>
  </HeadingPairs>
  <TitlesOfParts>
    <vt:vector size="36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Gauss6 FullVA Huzaifa-style Slides</dc:title>
  <dc:creator>Codex</dc:creator>
  <cp:lastModifiedBy>Codex</cp:lastModifiedBy>
  <dcterms:created xsi:type="dcterms:W3CDTF">2026-06-09T17:00:00Z</dcterms:created>
  <dcterms:modified xsi:type="dcterms:W3CDTF">2026-06-09T17:00:00Z</dcterms:modified>
</cp:coreProperties>
</file>