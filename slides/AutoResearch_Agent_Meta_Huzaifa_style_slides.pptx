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72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4" autoAdjust="0"/>
    <p:restoredTop sz="78670" autoAdjust="0"/>
  </p:normalViewPr>
  <p:slideViewPr>
    <p:cSldViewPr snapToGrid="0">
      <p:cViewPr varScale="1">
        <p:scale>
          <a:sx n="79" d="100"/>
          <a:sy n="79" d="100"/>
        </p:scale>
        <p:origin x="3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2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22016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theme" Target="theme/theme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CA0-5F79-4EC3-B9FF-DD93D005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6431"/>
            <a:ext cx="10515600" cy="2092570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C9AC-ED88-4F74-BD7A-2F0BB803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4646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48C4F-F720-7D87-F739-CB523400F1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28960" y="6209450"/>
            <a:ext cx="1921380" cy="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5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21F2CD-9866-4A35-AB75-BCEFA474E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CBD90-F957-997D-12DC-DAF4A10B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65C2-1ABD-FC4D-5767-FFC8FBC9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BE2B75-4015-0A19-00BE-9FD5E506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842B61D-D559-A85F-FC5F-E170B796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042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28E0-D269-49CB-A8F3-06105EBD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F4BA7D-A193-4AA8-9B3C-8DAABC30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BAEAC-1F6F-A7E7-D61B-8911F71E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2B46C-326E-348C-0475-9F3618EF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9E519-2C9B-E44C-89D5-ACD02CAB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16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CA0-5F79-4EC3-B9FF-DD93D005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6431"/>
            <a:ext cx="10515600" cy="209257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C9AC-ED88-4F74-BD7A-2F0BB803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4646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09038-14E7-3677-07E4-8DEBEF96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1560E-229C-3960-AEF9-8BC5D779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61214-CFA3-9422-9130-EFB43F99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5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8552-FC0F-4F0C-B233-4B0363A5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ED8A-2D16-4D3B-8330-E083BF9A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541D0-50A1-422F-A216-29433806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8EC5C-857E-6B6F-AF0B-051A0CC8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CA0C2-6AB3-0BB5-89FA-80C40229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C9A4F-D42A-F2D1-B7BC-90B82474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02C776-D033-4AB1-B9D3-C15F7246CB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92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0D6D-3C44-4177-AA6D-9DF1D585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D55E-B92D-05D8-D53E-D3F5125F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B0B1-5519-2119-2F07-5E9DF6C7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8A785-CDD4-D078-1B4A-A7E6694D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9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A4539-6EE0-452B-9864-C0E97E8A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3464-0243-B53A-6D6E-9AC83EBD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F3A16-7D21-8D14-6654-3786FB60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68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DB77-6CB9-4A91-8CD2-503902A3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096DA-711C-4BE1-A5CF-FC0E92B2B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849E7-C0D6-4297-BBA8-ADC7BA3E0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8D3B8-1615-31ED-ADB8-57B39494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C7E4E-77BB-F4C5-612A-A2AF9110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7A9F6-837C-BAD8-40D0-EE441277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7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037AF-8F80-4850-B8F8-79D0E4F0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AEF32-8FB4-4254-A2DB-ADCAA226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4FEAD-EF13-4307-8F3A-5FA683583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0C9DB-D9DB-4AEF-9074-3627FE6D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CE9E-47DD-46B4-BCE6-31F6270BD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02C776-D033-4AB1-B9D3-C15F7246CB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4DB3B-6B1B-56C0-EACC-00E2B42002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40833" y="167549"/>
            <a:ext cx="1425933" cy="3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0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00" r:id="rId2"/>
    <p:sldLayoutId id="2147483701" r:id="rId3"/>
    <p:sldLayoutId id="2147483702" r:id="rId4"/>
    <p:sldLayoutId id="2147483703" r:id="rId5"/>
    <p:sldLayoutId id="2147483705" r:id="rId6"/>
    <p:sldLayoutId id="2147483706" r:id="rId7"/>
    <p:sldLayoutId id="214748370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meta_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meta_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meta_image3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meta_image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meta_image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d spine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Deck title"/>
          <p:cNvSpPr txBox="1"/>
          <p:nvPr/>
        </p:nvSpPr>
        <p:spPr>
          <a:xfrm>
            <a:off x="720000" y="930000"/>
            <a:ext cx="10750000" cy="1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42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Building an Artifact-Grounded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42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Auto-Research Agent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60000" y="2800000"/>
            <a:ext cx="96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 meta deck on the research pipeline behind the Lie-group integrator work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760000" y="4070000"/>
            <a:ext cx="8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Jingquan Wang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Simulation-Based Engineering Laboratory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760000" y="5310000"/>
            <a:ext cx="2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problem is not just coding</a:t>
            </a:r>
          </a:p>
        </p:txBody>
      </p:sp>
      <p:sp>
        <p:nvSpPr>
          <p:cNvPr id="5" name="Accent"/>
          <p:cNvSpPr/>
          <p:nvPr/>
        </p:nvSpPr>
        <p:spPr>
          <a:xfrm>
            <a:off x="838200" y="3890000"/>
            <a:ext cx="55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Headline"/>
          <p:cNvSpPr txBox="1"/>
          <p:nvPr/>
        </p:nvSpPr>
        <p:spPr>
          <a:xfrm>
            <a:off x="838200" y="1700000"/>
            <a:ext cx="105156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Long-horizon research fails when the agent loses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state, evidence, and claim boundaries.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1288200" y="3900000"/>
            <a:ext cx="9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hard part is remembering what was proved, what merely ran, and what must not be claimed.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agent must carry months of negative results without turning them into noise.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 must know when a cheap validator is enough and when a full campaign needs human opt-in.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Why naive research agents drift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Common failure mode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Runs one experiment and overstates the result.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Forgets old counterexamples.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Treats a plot, validator pass, or paper draft as proof.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Reruns expensive scripts to answer read-only questions.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we need instead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Versioned memory.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Executable claim gates.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Negative evidence ledgers.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Strict command boundaries.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Central thesis</a:t>
            </a:r>
          </a:p>
        </p:txBody>
      </p:sp>
      <p:sp>
        <p:nvSpPr>
          <p:cNvPr id="5" name="Accent"/>
          <p:cNvSpPr/>
          <p:nvPr/>
        </p:nvSpPr>
        <p:spPr>
          <a:xfrm>
            <a:off x="838200" y="3890000"/>
            <a:ext cx="55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Headline"/>
          <p:cNvSpPr txBox="1"/>
          <p:nvPr/>
        </p:nvSpPr>
        <p:spPr>
          <a:xfrm>
            <a:off x="838200" y="1700000"/>
            <a:ext cx="105156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An auto-research agent becomes useful when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research state is an artifact graph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and claims are executable contracts.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1288200" y="3900000"/>
            <a:ext cx="9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agent does not rely on chat memory as the source of truth.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 reads the current files, chooses the next missing gate, and verifies before updating status.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workflow is autonomous inside bounded tasks and conservative at claim boundaries.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Defending the central thesis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1 - How do we encode research memory so the agent can resume correctly?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2 - How do we make evidence and non-evidence machine-checkable?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3 - How do we keep the agent from promoting diagnostics into claims?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4 - What did this architecture enable in the v047/v048 case study?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Roadmap</a:t>
            </a:r>
          </a:p>
        </p:txBody>
      </p:sp>
      <p:sp>
        <p:nvSpPr>
          <p:cNvPr id="5" name="Process box"/>
          <p:cNvSpPr/>
          <p:nvPr/>
        </p:nvSpPr>
        <p:spPr>
          <a:xfrm>
            <a:off x="838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Process box"/>
          <p:cNvSpPr/>
          <p:nvPr/>
        </p:nvSpPr>
        <p:spPr>
          <a:xfrm>
            <a:off x="2913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Process box"/>
          <p:cNvSpPr/>
          <p:nvPr/>
        </p:nvSpPr>
        <p:spPr>
          <a:xfrm>
            <a:off x="4988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Process box"/>
          <p:cNvSpPr/>
          <p:nvPr/>
        </p:nvSpPr>
        <p:spPr>
          <a:xfrm>
            <a:off x="7063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Process box"/>
          <p:cNvSpPr/>
          <p:nvPr/>
        </p:nvSpPr>
        <p:spPr>
          <a:xfrm>
            <a:off x="9138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Step num"/>
          <p:cNvSpPr txBox="1"/>
          <p:nvPr/>
        </p:nvSpPr>
        <p:spPr>
          <a:xfrm>
            <a:off x="958200" y="1990000"/>
            <a:ext cx="440000" cy="4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1</a:t>
            </a:r>
          </a:p>
        </p:txBody>
      </p:sp>
      <p:sp>
        <p:nvSpPr>
          <p:cNvPr id="11" name="Step head"/>
          <p:cNvSpPr txBox="1"/>
          <p:nvPr/>
        </p:nvSpPr>
        <p:spPr>
          <a:xfrm>
            <a:off x="978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Research state</a:t>
            </a:r>
          </a:p>
        </p:txBody>
      </p:sp>
      <p:sp>
        <p:nvSpPr>
          <p:cNvPr id="12" name="Step desc"/>
          <p:cNvSpPr txBox="1"/>
          <p:nvPr/>
        </p:nvSpPr>
        <p:spPr>
          <a:xfrm>
            <a:off x="978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artifact tree, version ledger, current contract</a:t>
            </a:r>
          </a:p>
        </p:txBody>
      </p:sp>
      <p:sp>
        <p:nvSpPr>
          <p:cNvPr id="13" name="Step num"/>
          <p:cNvSpPr txBox="1"/>
          <p:nvPr/>
        </p:nvSpPr>
        <p:spPr>
          <a:xfrm>
            <a:off x="3033200" y="1990000"/>
            <a:ext cx="440000" cy="44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14" name="Step head"/>
          <p:cNvSpPr txBox="1"/>
          <p:nvPr/>
        </p:nvSpPr>
        <p:spPr>
          <a:xfrm>
            <a:off x="3053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Agent loop</a:t>
            </a:r>
          </a:p>
        </p:txBody>
      </p:sp>
      <p:sp>
        <p:nvSpPr>
          <p:cNvPr id="15" name="Step desc"/>
          <p:cNvSpPr txBox="1"/>
          <p:nvPr/>
        </p:nvSpPr>
        <p:spPr>
          <a:xfrm>
            <a:off x="3053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inspect, choose gap, implement, verify, record</a:t>
            </a:r>
          </a:p>
        </p:txBody>
      </p:sp>
      <p:sp>
        <p:nvSpPr>
          <p:cNvPr id="16" name="Step num"/>
          <p:cNvSpPr txBox="1"/>
          <p:nvPr/>
        </p:nvSpPr>
        <p:spPr>
          <a:xfrm>
            <a:off x="5108200" y="1990000"/>
            <a:ext cx="440000" cy="4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  <p:sp>
        <p:nvSpPr>
          <p:cNvPr id="17" name="Step head"/>
          <p:cNvSpPr txBox="1"/>
          <p:nvPr/>
        </p:nvSpPr>
        <p:spPr>
          <a:xfrm>
            <a:off x="5128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Guardrails</a:t>
            </a:r>
          </a:p>
        </p:txBody>
      </p:sp>
      <p:sp>
        <p:nvSpPr>
          <p:cNvPr id="18" name="Step desc"/>
          <p:cNvSpPr txBox="1"/>
          <p:nvPr/>
        </p:nvSpPr>
        <p:spPr>
          <a:xfrm>
            <a:off x="5128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claim boundary, validators, opt-in gates</a:t>
            </a:r>
          </a:p>
        </p:txBody>
      </p:sp>
      <p:sp>
        <p:nvSpPr>
          <p:cNvPr id="19" name="Step num"/>
          <p:cNvSpPr txBox="1"/>
          <p:nvPr/>
        </p:nvSpPr>
        <p:spPr>
          <a:xfrm>
            <a:off x="7183200" y="1990000"/>
            <a:ext cx="440000" cy="44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  <p:sp>
        <p:nvSpPr>
          <p:cNvPr id="20" name="Step head"/>
          <p:cNvSpPr txBox="1"/>
          <p:nvPr/>
        </p:nvSpPr>
        <p:spPr>
          <a:xfrm>
            <a:off x="7203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Case study</a:t>
            </a:r>
          </a:p>
        </p:txBody>
      </p:sp>
      <p:sp>
        <p:nvSpPr>
          <p:cNvPr id="21" name="Step desc"/>
          <p:cNvSpPr txBox="1"/>
          <p:nvPr/>
        </p:nvSpPr>
        <p:spPr>
          <a:xfrm>
            <a:off x="7203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v047/v048 Lie-group integrator pipeline</a:t>
            </a:r>
          </a:p>
        </p:txBody>
      </p:sp>
      <p:sp>
        <p:nvSpPr>
          <p:cNvPr id="22" name="Step num"/>
          <p:cNvSpPr txBox="1"/>
          <p:nvPr/>
        </p:nvSpPr>
        <p:spPr>
          <a:xfrm>
            <a:off x="9258200" y="1990000"/>
            <a:ext cx="440000" cy="44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  <p:sp>
        <p:nvSpPr>
          <p:cNvPr id="23" name="Step head"/>
          <p:cNvSpPr txBox="1"/>
          <p:nvPr/>
        </p:nvSpPr>
        <p:spPr>
          <a:xfrm>
            <a:off x="9278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Lessons</a:t>
            </a:r>
          </a:p>
        </p:txBody>
      </p:sp>
      <p:sp>
        <p:nvSpPr>
          <p:cNvPr id="24" name="Step desc"/>
          <p:cNvSpPr txBox="1"/>
          <p:nvPr/>
        </p:nvSpPr>
        <p:spPr>
          <a:xfrm>
            <a:off x="9278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what generalizes to other auto-research systems</a:t>
            </a:r>
          </a:p>
        </p:txBody>
      </p:sp>
      <p:sp>
        <p:nvSpPr>
          <p:cNvPr id="25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7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1 / Research State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Make context durable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agent can only be persistent if the research state lives outside the conversation.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is built around artifacts, not memory</a:t>
            </a:r>
          </a:p>
        </p:txBody>
      </p:sp>
      <p:sp>
        <p:nvSpPr>
          <p:cNvPr id="5" name="Architecture row"/>
          <p:cNvSpPr/>
          <p:nvPr/>
        </p:nvSpPr>
        <p:spPr>
          <a:xfrm>
            <a:off x="838200" y="1560000"/>
            <a:ext cx="10515600" cy="6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Architecture accent"/>
          <p:cNvSpPr/>
          <p:nvPr/>
        </p:nvSpPr>
        <p:spPr>
          <a:xfrm>
            <a:off x="838200" y="1560000"/>
            <a:ext cx="90000" cy="6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Architecture row"/>
          <p:cNvSpPr/>
          <p:nvPr/>
        </p:nvSpPr>
        <p:spPr>
          <a:xfrm>
            <a:off x="838200" y="2510000"/>
            <a:ext cx="10515600" cy="6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Architecture accent"/>
          <p:cNvSpPr/>
          <p:nvPr/>
        </p:nvSpPr>
        <p:spPr>
          <a:xfrm>
            <a:off x="838200" y="2510000"/>
            <a:ext cx="90000" cy="6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Architecture row"/>
          <p:cNvSpPr/>
          <p:nvPr/>
        </p:nvSpPr>
        <p:spPr>
          <a:xfrm>
            <a:off x="838200" y="3460000"/>
            <a:ext cx="10515600" cy="6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Architecture accent"/>
          <p:cNvSpPr/>
          <p:nvPr/>
        </p:nvSpPr>
        <p:spPr>
          <a:xfrm>
            <a:off x="838200" y="3460000"/>
            <a:ext cx="90000" cy="6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Architecture row"/>
          <p:cNvSpPr/>
          <p:nvPr/>
        </p:nvSpPr>
        <p:spPr>
          <a:xfrm>
            <a:off x="838200" y="4410000"/>
            <a:ext cx="10515600" cy="6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Architecture accent"/>
          <p:cNvSpPr/>
          <p:nvPr/>
        </p:nvSpPr>
        <p:spPr>
          <a:xfrm>
            <a:off x="838200" y="4410000"/>
            <a:ext cx="90000" cy="6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Arch head"/>
          <p:cNvSpPr txBox="1"/>
          <p:nvPr/>
        </p:nvSpPr>
        <p:spPr>
          <a:xfrm>
            <a:off x="1098200" y="1655000"/>
            <a:ext cx="2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Human objective</a:t>
            </a:r>
          </a:p>
        </p:txBody>
      </p:sp>
      <p:sp>
        <p:nvSpPr>
          <p:cNvPr id="14" name="Arch desc"/>
          <p:cNvSpPr txBox="1"/>
          <p:nvPr/>
        </p:nvSpPr>
        <p:spPr>
          <a:xfrm>
            <a:off x="3858200" y="1685000"/>
            <a:ext cx="705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broad research intent, stop conditions, opt-in gates</a:t>
            </a:r>
          </a:p>
        </p:txBody>
      </p:sp>
      <p:sp>
        <p:nvSpPr>
          <p:cNvPr id="15" name="Arch head"/>
          <p:cNvSpPr txBox="1"/>
          <p:nvPr/>
        </p:nvSpPr>
        <p:spPr>
          <a:xfrm>
            <a:off x="1098200" y="2605000"/>
            <a:ext cx="2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Agent loop</a:t>
            </a:r>
          </a:p>
        </p:txBody>
      </p:sp>
      <p:sp>
        <p:nvSpPr>
          <p:cNvPr id="16" name="Arch desc"/>
          <p:cNvSpPr txBox="1"/>
          <p:nvPr/>
        </p:nvSpPr>
        <p:spPr>
          <a:xfrm>
            <a:off x="3858200" y="2635000"/>
            <a:ext cx="705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inspect -&gt; choose gap -&gt; edit/run -&gt; verify -&gt; update ledgers</a:t>
            </a:r>
          </a:p>
        </p:txBody>
      </p:sp>
      <p:sp>
        <p:nvSpPr>
          <p:cNvPr id="17" name="Arch head"/>
          <p:cNvSpPr txBox="1"/>
          <p:nvPr/>
        </p:nvSpPr>
        <p:spPr>
          <a:xfrm>
            <a:off x="1098200" y="3555000"/>
            <a:ext cx="2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Artifact tree</a:t>
            </a:r>
          </a:p>
        </p:txBody>
      </p:sp>
      <p:sp>
        <p:nvSpPr>
          <p:cNvPr id="18" name="Arch desc"/>
          <p:cNvSpPr txBox="1"/>
          <p:nvPr/>
        </p:nvSpPr>
        <p:spPr>
          <a:xfrm>
            <a:off x="3858200" y="3585000"/>
            <a:ext cx="705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vNNN folders, CSV/JSON/PNG/MD reports, paper package</a:t>
            </a:r>
          </a:p>
        </p:txBody>
      </p:sp>
      <p:sp>
        <p:nvSpPr>
          <p:cNvPr id="19" name="Arch head"/>
          <p:cNvSpPr txBox="1"/>
          <p:nvPr/>
        </p:nvSpPr>
        <p:spPr>
          <a:xfrm>
            <a:off x="1098200" y="4505000"/>
            <a:ext cx="2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Validators</a:t>
            </a:r>
          </a:p>
        </p:txBody>
      </p:sp>
      <p:sp>
        <p:nvSpPr>
          <p:cNvPr id="20" name="Arch desc"/>
          <p:cNvSpPr txBox="1"/>
          <p:nvPr/>
        </p:nvSpPr>
        <p:spPr>
          <a:xfrm>
            <a:off x="3858200" y="4535000"/>
            <a:ext cx="705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read-only checks that decide whether claims remain admissible</a:t>
            </a:r>
          </a:p>
        </p:txBody>
      </p:sp>
      <p:sp>
        <p:nvSpPr>
          <p:cNvPr id="21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3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workspace is a research artifact tree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25089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35071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3507100" y="1850000"/>
            <a:ext cx="25089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61760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6176000" y="1850000"/>
            <a:ext cx="25089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Metric card"/>
          <p:cNvSpPr/>
          <p:nvPr/>
        </p:nvSpPr>
        <p:spPr>
          <a:xfrm>
            <a:off x="88449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Metric accent"/>
          <p:cNvSpPr/>
          <p:nvPr/>
        </p:nvSpPr>
        <p:spPr>
          <a:xfrm>
            <a:off x="8844900" y="1850000"/>
            <a:ext cx="25089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Metric value"/>
          <p:cNvSpPr txBox="1"/>
          <p:nvPr/>
        </p:nvSpPr>
        <p:spPr>
          <a:xfrm>
            <a:off x="9582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48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9982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versioned vNNN research directories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36271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527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36671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generated result files checked by the top-level validator</a:t>
            </a:r>
          </a:p>
        </p:txBody>
      </p:sp>
      <p:sp>
        <p:nvSpPr>
          <p:cNvPr id="17" name="Metric value"/>
          <p:cNvSpPr txBox="1"/>
          <p:nvPr/>
        </p:nvSpPr>
        <p:spPr>
          <a:xfrm>
            <a:off x="62960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220</a:t>
            </a:r>
          </a:p>
        </p:txBody>
      </p:sp>
      <p:sp>
        <p:nvSpPr>
          <p:cNvPr id="18" name="Metric label"/>
          <p:cNvSpPr txBox="1"/>
          <p:nvPr/>
        </p:nvSpPr>
        <p:spPr>
          <a:xfrm>
            <a:off x="63360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CSV tables in the validation inventory</a:t>
            </a:r>
          </a:p>
        </p:txBody>
      </p:sp>
      <p:sp>
        <p:nvSpPr>
          <p:cNvPr id="19" name="Metric value"/>
          <p:cNvSpPr txBox="1"/>
          <p:nvPr/>
        </p:nvSpPr>
        <p:spPr>
          <a:xfrm>
            <a:off x="89649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198</a:t>
            </a:r>
          </a:p>
        </p:txBody>
      </p:sp>
      <p:sp>
        <p:nvSpPr>
          <p:cNvPr id="20" name="Metric label"/>
          <p:cNvSpPr txBox="1"/>
          <p:nvPr/>
        </p:nvSpPr>
        <p:spPr>
          <a:xfrm>
            <a:off x="90049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PNG plots checked by header</a:t>
            </a:r>
          </a:p>
        </p:txBody>
      </p:sp>
      <p:sp>
        <p:nvSpPr>
          <p:cNvPr id="21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tree is treated as evidence, not disposable build output.</a:t>
            </a:r>
          </a:p>
        </p:txBody>
      </p:sp>
      <p:sp>
        <p:nvSpPr>
          <p:cNvPr id="2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Context is encoded as a contract</a:t>
            </a:r>
          </a:p>
        </p:txBody>
      </p:sp>
      <p:sp>
        <p:nvSpPr>
          <p:cNvPr id="5" name="File row"/>
          <p:cNvSpPr/>
          <p:nvPr/>
        </p:nvSpPr>
        <p:spPr>
          <a:xfrm>
            <a:off x="838200" y="1520000"/>
            <a:ext cx="10515600" cy="5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File row"/>
          <p:cNvSpPr/>
          <p:nvPr/>
        </p:nvSpPr>
        <p:spPr>
          <a:xfrm>
            <a:off x="838200" y="2240000"/>
            <a:ext cx="105156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File row"/>
          <p:cNvSpPr/>
          <p:nvPr/>
        </p:nvSpPr>
        <p:spPr>
          <a:xfrm>
            <a:off x="838200" y="2960000"/>
            <a:ext cx="10515600" cy="5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File row"/>
          <p:cNvSpPr/>
          <p:nvPr/>
        </p:nvSpPr>
        <p:spPr>
          <a:xfrm>
            <a:off x="838200" y="3680000"/>
            <a:ext cx="105156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9" name="File row"/>
          <p:cNvSpPr/>
          <p:nvPr/>
        </p:nvSpPr>
        <p:spPr>
          <a:xfrm>
            <a:off x="838200" y="4400000"/>
            <a:ext cx="10515600" cy="5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File name"/>
          <p:cNvSpPr txBox="1"/>
          <p:nvPr/>
        </p:nvSpPr>
        <p:spPr>
          <a:xfrm>
            <a:off x="1018200" y="1625000"/>
            <a:ext cx="37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CURRENT_PIPELINE_CONTRACT.md</a:t>
            </a:r>
          </a:p>
        </p:txBody>
      </p:sp>
      <p:sp>
        <p:nvSpPr>
          <p:cNvPr id="11" name="File role"/>
          <p:cNvSpPr txBox="1"/>
          <p:nvPr/>
        </p:nvSpPr>
        <p:spPr>
          <a:xfrm>
            <a:off x="5018200" y="1625000"/>
            <a:ext cx="6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current claim boundary and command boundary</a:t>
            </a:r>
          </a:p>
        </p:txBody>
      </p:sp>
      <p:sp>
        <p:nvSpPr>
          <p:cNvPr id="12" name="File name"/>
          <p:cNvSpPr txBox="1"/>
          <p:nvPr/>
        </p:nvSpPr>
        <p:spPr>
          <a:xfrm>
            <a:off x="1018200" y="2345000"/>
            <a:ext cx="37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CURRENT_STATUS_CN.md</a:t>
            </a:r>
          </a:p>
        </p:txBody>
      </p:sp>
      <p:sp>
        <p:nvSpPr>
          <p:cNvPr id="13" name="File role"/>
          <p:cNvSpPr txBox="1"/>
          <p:nvPr/>
        </p:nvSpPr>
        <p:spPr>
          <a:xfrm>
            <a:off x="5018200" y="2345000"/>
            <a:ext cx="6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human-readable state, including recent negative probes</a:t>
            </a:r>
          </a:p>
        </p:txBody>
      </p:sp>
      <p:sp>
        <p:nvSpPr>
          <p:cNvPr id="14" name="File name"/>
          <p:cNvSpPr txBox="1"/>
          <p:nvPr/>
        </p:nvSpPr>
        <p:spPr>
          <a:xfrm>
            <a:off x="1018200" y="3065000"/>
            <a:ext cx="37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ORDER_PROOF_LEDGER.md</a:t>
            </a:r>
          </a:p>
        </p:txBody>
      </p:sp>
      <p:sp>
        <p:nvSpPr>
          <p:cNvPr id="15" name="File role"/>
          <p:cNvSpPr txBox="1"/>
          <p:nvPr/>
        </p:nvSpPr>
        <p:spPr>
          <a:xfrm>
            <a:off x="5018200" y="3065000"/>
            <a:ext cx="6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what is proved, conditional, or diagnostic</a:t>
            </a:r>
          </a:p>
        </p:txBody>
      </p:sp>
      <p:sp>
        <p:nvSpPr>
          <p:cNvPr id="16" name="File name"/>
          <p:cNvSpPr txBox="1"/>
          <p:nvPr/>
        </p:nvSpPr>
        <p:spPr>
          <a:xfrm>
            <a:off x="1018200" y="3785000"/>
            <a:ext cx="37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VERSION_LEDGER.md / version_ledger.csv</a:t>
            </a:r>
          </a:p>
        </p:txBody>
      </p:sp>
      <p:sp>
        <p:nvSpPr>
          <p:cNvPr id="17" name="File role"/>
          <p:cNvSpPr txBox="1"/>
          <p:nvPr/>
        </p:nvSpPr>
        <p:spPr>
          <a:xfrm>
            <a:off x="5018200" y="3785000"/>
            <a:ext cx="6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cross-version memory</a:t>
            </a:r>
          </a:p>
        </p:txBody>
      </p:sp>
      <p:sp>
        <p:nvSpPr>
          <p:cNvPr id="18" name="File name"/>
          <p:cNvSpPr txBox="1"/>
          <p:nvPr/>
        </p:nvSpPr>
        <p:spPr>
          <a:xfrm>
            <a:off x="1018200" y="4505000"/>
            <a:ext cx="37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VALIDATION_QUICKSTART.md</a:t>
            </a:r>
          </a:p>
        </p:txBody>
      </p:sp>
      <p:sp>
        <p:nvSpPr>
          <p:cNvPr id="19" name="File role"/>
          <p:cNvSpPr txBox="1"/>
          <p:nvPr/>
        </p:nvSpPr>
        <p:spPr>
          <a:xfrm>
            <a:off x="5018200" y="4505000"/>
            <a:ext cx="6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which command is safe for which question</a:t>
            </a:r>
          </a:p>
        </p:txBody>
      </p:sp>
      <p:sp>
        <p:nvSpPr>
          <p:cNvPr id="20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Versions are kept, not overwritten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v001-v048 preserve the full path from SO(3) kinematics to external same-test scaffolds.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Each version has a role: method candidate, diagnostic, baseline, proof audit, or paper gate.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version ledger lets the agent ask: what changed, what passed, what remains blocked?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This is how the next action is selected from evidence rather than memory.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2 / Agent Loop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Make progress auditable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loop is designed so every autonomous step leaves a checkable trace.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per-round research loop</a:t>
            </a:r>
          </a:p>
        </p:txBody>
      </p:sp>
      <p:sp>
        <p:nvSpPr>
          <p:cNvPr id="5" name="Process box"/>
          <p:cNvSpPr/>
          <p:nvPr/>
        </p:nvSpPr>
        <p:spPr>
          <a:xfrm>
            <a:off x="838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Process box"/>
          <p:cNvSpPr/>
          <p:nvPr/>
        </p:nvSpPr>
        <p:spPr>
          <a:xfrm>
            <a:off x="2913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Process box"/>
          <p:cNvSpPr/>
          <p:nvPr/>
        </p:nvSpPr>
        <p:spPr>
          <a:xfrm>
            <a:off x="4988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Process box"/>
          <p:cNvSpPr/>
          <p:nvPr/>
        </p:nvSpPr>
        <p:spPr>
          <a:xfrm>
            <a:off x="7063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Process box"/>
          <p:cNvSpPr/>
          <p:nvPr/>
        </p:nvSpPr>
        <p:spPr>
          <a:xfrm>
            <a:off x="9138200" y="1760000"/>
            <a:ext cx="1890000" cy="3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Step num"/>
          <p:cNvSpPr txBox="1"/>
          <p:nvPr/>
        </p:nvSpPr>
        <p:spPr>
          <a:xfrm>
            <a:off x="958200" y="1990000"/>
            <a:ext cx="440000" cy="4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1</a:t>
            </a:r>
          </a:p>
        </p:txBody>
      </p:sp>
      <p:sp>
        <p:nvSpPr>
          <p:cNvPr id="11" name="Step head"/>
          <p:cNvSpPr txBox="1"/>
          <p:nvPr/>
        </p:nvSpPr>
        <p:spPr>
          <a:xfrm>
            <a:off x="978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Inspect</a:t>
            </a:r>
          </a:p>
        </p:txBody>
      </p:sp>
      <p:sp>
        <p:nvSpPr>
          <p:cNvPr id="12" name="Step desc"/>
          <p:cNvSpPr txBox="1"/>
          <p:nvPr/>
        </p:nvSpPr>
        <p:spPr>
          <a:xfrm>
            <a:off x="978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read current contract, summary JSON, ledgers, audit files</a:t>
            </a:r>
          </a:p>
        </p:txBody>
      </p:sp>
      <p:sp>
        <p:nvSpPr>
          <p:cNvPr id="13" name="Step num"/>
          <p:cNvSpPr txBox="1"/>
          <p:nvPr/>
        </p:nvSpPr>
        <p:spPr>
          <a:xfrm>
            <a:off x="3033200" y="1990000"/>
            <a:ext cx="440000" cy="44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14" name="Step head"/>
          <p:cNvSpPr txBox="1"/>
          <p:nvPr/>
        </p:nvSpPr>
        <p:spPr>
          <a:xfrm>
            <a:off x="3053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Select</a:t>
            </a:r>
          </a:p>
        </p:txBody>
      </p:sp>
      <p:sp>
        <p:nvSpPr>
          <p:cNvPr id="15" name="Step desc"/>
          <p:cNvSpPr txBox="1"/>
          <p:nvPr/>
        </p:nvSpPr>
        <p:spPr>
          <a:xfrm>
            <a:off x="3053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choose the next real missing gate, not a convenient subtask</a:t>
            </a:r>
          </a:p>
        </p:txBody>
      </p:sp>
      <p:sp>
        <p:nvSpPr>
          <p:cNvPr id="16" name="Step num"/>
          <p:cNvSpPr txBox="1"/>
          <p:nvPr/>
        </p:nvSpPr>
        <p:spPr>
          <a:xfrm>
            <a:off x="5108200" y="1990000"/>
            <a:ext cx="440000" cy="4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  <p:sp>
        <p:nvSpPr>
          <p:cNvPr id="17" name="Step head"/>
          <p:cNvSpPr txBox="1"/>
          <p:nvPr/>
        </p:nvSpPr>
        <p:spPr>
          <a:xfrm>
            <a:off x="5128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Act</a:t>
            </a:r>
          </a:p>
        </p:txBody>
      </p:sp>
      <p:sp>
        <p:nvSpPr>
          <p:cNvPr id="18" name="Step desc"/>
          <p:cNvSpPr txBox="1"/>
          <p:nvPr/>
        </p:nvSpPr>
        <p:spPr>
          <a:xfrm>
            <a:off x="5128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edit code or run the bounded target audit</a:t>
            </a:r>
          </a:p>
        </p:txBody>
      </p:sp>
      <p:sp>
        <p:nvSpPr>
          <p:cNvPr id="19" name="Step num"/>
          <p:cNvSpPr txBox="1"/>
          <p:nvPr/>
        </p:nvSpPr>
        <p:spPr>
          <a:xfrm>
            <a:off x="7183200" y="1990000"/>
            <a:ext cx="440000" cy="44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  <p:sp>
        <p:nvSpPr>
          <p:cNvPr id="20" name="Step head"/>
          <p:cNvSpPr txBox="1"/>
          <p:nvPr/>
        </p:nvSpPr>
        <p:spPr>
          <a:xfrm>
            <a:off x="7203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Verify</a:t>
            </a:r>
          </a:p>
        </p:txBody>
      </p:sp>
      <p:sp>
        <p:nvSpPr>
          <p:cNvPr id="21" name="Step desc"/>
          <p:cNvSpPr txBox="1"/>
          <p:nvPr/>
        </p:nvSpPr>
        <p:spPr>
          <a:xfrm>
            <a:off x="7203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run validators and inspect generated artifacts</a:t>
            </a:r>
          </a:p>
        </p:txBody>
      </p:sp>
      <p:sp>
        <p:nvSpPr>
          <p:cNvPr id="22" name="Step num"/>
          <p:cNvSpPr txBox="1"/>
          <p:nvPr/>
        </p:nvSpPr>
        <p:spPr>
          <a:xfrm>
            <a:off x="9258200" y="1990000"/>
            <a:ext cx="440000" cy="44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  <p:sp>
        <p:nvSpPr>
          <p:cNvPr id="23" name="Step head"/>
          <p:cNvSpPr txBox="1"/>
          <p:nvPr/>
        </p:nvSpPr>
        <p:spPr>
          <a:xfrm>
            <a:off x="9278200" y="2660000"/>
            <a:ext cx="161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Record</a:t>
            </a:r>
          </a:p>
        </p:txBody>
      </p:sp>
      <p:sp>
        <p:nvSpPr>
          <p:cNvPr id="24" name="Step desc"/>
          <p:cNvSpPr txBox="1"/>
          <p:nvPr/>
        </p:nvSpPr>
        <p:spPr>
          <a:xfrm>
            <a:off x="9278200" y="3380000"/>
            <a:ext cx="161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update ledgers only when evidence changes the boundary</a:t>
            </a:r>
          </a:p>
        </p:txBody>
      </p:sp>
      <p:sp>
        <p:nvSpPr>
          <p:cNvPr id="25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7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Validators are executable memory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They prevent stale README prose from becoming the source of truth.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They distinguish accepted rows from diagnostic rows.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They check figures, CSV, JSON, proof gates, and paper claim text together.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They make the agent safe to resume after context compaction.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Two command classes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Read-only checks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validate_paper_package.py.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validate_four_asme_minimal.py.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validate_v047_outputs.py.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validate_v048_outputs.py.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Fast enough for routine state checks.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Artifact generators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run_v047.py.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v048 campaign runners.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B4 source-policy execution commands.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Used only after code changes or explicit opt-in.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Negative evidence is first-class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failed candidate is recorded with residual, rank, span, runtime, and missing direction.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uses those records to avoid re-testing ruled-out ideas.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Recent full-TFE probes localize the gap instead of pretending it is closed.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This turns failed experiments into search-space pruning.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3 / Guardrails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Prevent claim inflation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pipeline is built to say exactly what is and is not known.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 gates are explicit</a:t>
            </a:r>
          </a:p>
        </p:txBody>
      </p:sp>
      <p:sp>
        <p:nvSpPr>
          <p:cNvPr id="5" name="Header"/>
          <p:cNvSpPr/>
          <p:nvPr/>
        </p:nvSpPr>
        <p:spPr>
          <a:xfrm>
            <a:off x="838200" y="1500000"/>
            <a:ext cx="2540000" cy="42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6" name="Header"/>
          <p:cNvSpPr/>
          <p:nvPr/>
        </p:nvSpPr>
        <p:spPr>
          <a:xfrm>
            <a:off x="3588200" y="1500000"/>
            <a:ext cx="2940000" cy="42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Header"/>
          <p:cNvSpPr/>
          <p:nvPr/>
        </p:nvSpPr>
        <p:spPr>
          <a:xfrm>
            <a:off x="6738200" y="1500000"/>
            <a:ext cx="2230000" cy="42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Header"/>
          <p:cNvSpPr/>
          <p:nvPr/>
        </p:nvSpPr>
        <p:spPr>
          <a:xfrm>
            <a:off x="9188200" y="1500000"/>
            <a:ext cx="2000000" cy="42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Cell"/>
          <p:cNvSpPr/>
          <p:nvPr/>
        </p:nvSpPr>
        <p:spPr>
          <a:xfrm>
            <a:off x="838200" y="1920000"/>
            <a:ext cx="254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Cell"/>
          <p:cNvSpPr/>
          <p:nvPr/>
        </p:nvSpPr>
        <p:spPr>
          <a:xfrm>
            <a:off x="3588200" y="1920000"/>
            <a:ext cx="294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1" name="Cell"/>
          <p:cNvSpPr/>
          <p:nvPr/>
        </p:nvSpPr>
        <p:spPr>
          <a:xfrm>
            <a:off x="6738200" y="1920000"/>
            <a:ext cx="223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Cell"/>
          <p:cNvSpPr/>
          <p:nvPr/>
        </p:nvSpPr>
        <p:spPr>
          <a:xfrm>
            <a:off x="9188200" y="1920000"/>
            <a:ext cx="200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3" name="Cell"/>
          <p:cNvSpPr/>
          <p:nvPr/>
        </p:nvSpPr>
        <p:spPr>
          <a:xfrm>
            <a:off x="838200" y="2610000"/>
            <a:ext cx="254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4" name="Cell"/>
          <p:cNvSpPr/>
          <p:nvPr/>
        </p:nvSpPr>
        <p:spPr>
          <a:xfrm>
            <a:off x="3588200" y="2610000"/>
            <a:ext cx="294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5" name="Cell"/>
          <p:cNvSpPr/>
          <p:nvPr/>
        </p:nvSpPr>
        <p:spPr>
          <a:xfrm>
            <a:off x="6738200" y="2610000"/>
            <a:ext cx="223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6" name="Cell"/>
          <p:cNvSpPr/>
          <p:nvPr/>
        </p:nvSpPr>
        <p:spPr>
          <a:xfrm>
            <a:off x="9188200" y="2610000"/>
            <a:ext cx="200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7" name="Cell"/>
          <p:cNvSpPr/>
          <p:nvPr/>
        </p:nvSpPr>
        <p:spPr>
          <a:xfrm>
            <a:off x="838200" y="3300000"/>
            <a:ext cx="254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8" name="Cell"/>
          <p:cNvSpPr/>
          <p:nvPr/>
        </p:nvSpPr>
        <p:spPr>
          <a:xfrm>
            <a:off x="3588200" y="3300000"/>
            <a:ext cx="294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9" name="Cell"/>
          <p:cNvSpPr/>
          <p:nvPr/>
        </p:nvSpPr>
        <p:spPr>
          <a:xfrm>
            <a:off x="6738200" y="3300000"/>
            <a:ext cx="223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0" name="Cell"/>
          <p:cNvSpPr/>
          <p:nvPr/>
        </p:nvSpPr>
        <p:spPr>
          <a:xfrm>
            <a:off x="9188200" y="3300000"/>
            <a:ext cx="200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1" name="Cell"/>
          <p:cNvSpPr/>
          <p:nvPr/>
        </p:nvSpPr>
        <p:spPr>
          <a:xfrm>
            <a:off x="838200" y="3990000"/>
            <a:ext cx="254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22" name="Cell"/>
          <p:cNvSpPr/>
          <p:nvPr/>
        </p:nvSpPr>
        <p:spPr>
          <a:xfrm>
            <a:off x="3588200" y="3990000"/>
            <a:ext cx="294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23" name="Cell"/>
          <p:cNvSpPr/>
          <p:nvPr/>
        </p:nvSpPr>
        <p:spPr>
          <a:xfrm>
            <a:off x="6738200" y="3990000"/>
            <a:ext cx="223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24" name="Cell"/>
          <p:cNvSpPr/>
          <p:nvPr/>
        </p:nvSpPr>
        <p:spPr>
          <a:xfrm>
            <a:off x="9188200" y="3990000"/>
            <a:ext cx="2000000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25" name="Cell"/>
          <p:cNvSpPr/>
          <p:nvPr/>
        </p:nvSpPr>
        <p:spPr>
          <a:xfrm>
            <a:off x="838200" y="4680000"/>
            <a:ext cx="254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6" name="Cell"/>
          <p:cNvSpPr/>
          <p:nvPr/>
        </p:nvSpPr>
        <p:spPr>
          <a:xfrm>
            <a:off x="3588200" y="4680000"/>
            <a:ext cx="294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7" name="Cell"/>
          <p:cNvSpPr/>
          <p:nvPr/>
        </p:nvSpPr>
        <p:spPr>
          <a:xfrm>
            <a:off x="6738200" y="4680000"/>
            <a:ext cx="223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8" name="Cell"/>
          <p:cNvSpPr/>
          <p:nvPr/>
        </p:nvSpPr>
        <p:spPr>
          <a:xfrm>
            <a:off x="9188200" y="4680000"/>
            <a:ext cx="2000000" cy="69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9" name="Header text"/>
          <p:cNvSpPr txBox="1"/>
          <p:nvPr/>
        </p:nvSpPr>
        <p:spPr>
          <a:xfrm>
            <a:off x="918200" y="1595000"/>
            <a:ext cx="23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Gate</a:t>
            </a:r>
          </a:p>
        </p:txBody>
      </p:sp>
      <p:sp>
        <p:nvSpPr>
          <p:cNvPr id="30" name="Header text"/>
          <p:cNvSpPr txBox="1"/>
          <p:nvPr/>
        </p:nvSpPr>
        <p:spPr>
          <a:xfrm>
            <a:off x="3668200" y="1595000"/>
            <a:ext cx="27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What it prevents</a:t>
            </a:r>
          </a:p>
        </p:txBody>
      </p:sp>
      <p:sp>
        <p:nvSpPr>
          <p:cNvPr id="31" name="Header text"/>
          <p:cNvSpPr txBox="1"/>
          <p:nvPr/>
        </p:nvSpPr>
        <p:spPr>
          <a:xfrm>
            <a:off x="6818200" y="1595000"/>
            <a:ext cx="20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Evidence</a:t>
            </a:r>
          </a:p>
        </p:txBody>
      </p:sp>
      <p:sp>
        <p:nvSpPr>
          <p:cNvPr id="32" name="Header text"/>
          <p:cNvSpPr txBox="1"/>
          <p:nvPr/>
        </p:nvSpPr>
        <p:spPr>
          <a:xfrm>
            <a:off x="9268200" y="1595000"/>
            <a:ext cx="18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Status</a:t>
            </a:r>
          </a:p>
        </p:txBody>
      </p:sp>
      <p:sp>
        <p:nvSpPr>
          <p:cNvPr id="33" name="Cell text"/>
          <p:cNvSpPr txBox="1"/>
          <p:nvPr/>
        </p:nvSpPr>
        <p:spPr>
          <a:xfrm>
            <a:off x="923200" y="2015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Order gate</a:t>
            </a:r>
          </a:p>
        </p:txBody>
      </p:sp>
      <p:sp>
        <p:nvSpPr>
          <p:cNvPr id="34" name="Cell text"/>
          <p:cNvSpPr txBox="1"/>
          <p:nvPr/>
        </p:nvSpPr>
        <p:spPr>
          <a:xfrm>
            <a:off x="3673200" y="2015000"/>
            <a:ext cx="27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observed slopes becoming theorem claims</a:t>
            </a:r>
          </a:p>
        </p:txBody>
      </p:sp>
      <p:sp>
        <p:nvSpPr>
          <p:cNvPr id="35" name="Cell text"/>
          <p:cNvSpPr txBox="1"/>
          <p:nvPr/>
        </p:nvSpPr>
        <p:spPr>
          <a:xfrm>
            <a:off x="6823200" y="2015000"/>
            <a:ext cx="206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ORDER_ACCEPTANCE_GATE.json</a:t>
            </a:r>
          </a:p>
        </p:txBody>
      </p:sp>
      <p:sp>
        <p:nvSpPr>
          <p:cNvPr id="36" name="Cell text"/>
          <p:cNvSpPr txBox="1"/>
          <p:nvPr/>
        </p:nvSpPr>
        <p:spPr>
          <a:xfrm>
            <a:off x="9273200" y="2015000"/>
            <a:ext cx="183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closed in scope</a:t>
            </a:r>
          </a:p>
        </p:txBody>
      </p:sp>
      <p:sp>
        <p:nvSpPr>
          <p:cNvPr id="37" name="Cell text"/>
          <p:cNvSpPr txBox="1"/>
          <p:nvPr/>
        </p:nvSpPr>
        <p:spPr>
          <a:xfrm>
            <a:off x="923200" y="2705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Proof gate</a:t>
            </a:r>
          </a:p>
        </p:txBody>
      </p:sp>
      <p:sp>
        <p:nvSpPr>
          <p:cNvPr id="38" name="Cell text"/>
          <p:cNvSpPr txBox="1"/>
          <p:nvPr/>
        </p:nvSpPr>
        <p:spPr>
          <a:xfrm>
            <a:off x="3673200" y="2705000"/>
            <a:ext cx="27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diagnostics becoming proof</a:t>
            </a:r>
          </a:p>
        </p:txBody>
      </p:sp>
      <p:sp>
        <p:nvSpPr>
          <p:cNvPr id="39" name="Cell text"/>
          <p:cNvSpPr txBox="1"/>
          <p:nvPr/>
        </p:nvSpPr>
        <p:spPr>
          <a:xfrm>
            <a:off x="6823200" y="2705000"/>
            <a:ext cx="206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CMAME_PROOF_CONTRACT_GATE.json</a:t>
            </a:r>
          </a:p>
        </p:txBody>
      </p:sp>
      <p:sp>
        <p:nvSpPr>
          <p:cNvPr id="40" name="Cell text"/>
          <p:cNvSpPr txBox="1"/>
          <p:nvPr/>
        </p:nvSpPr>
        <p:spPr>
          <a:xfrm>
            <a:off x="9273200" y="2705000"/>
            <a:ext cx="183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conditional</a:t>
            </a:r>
          </a:p>
        </p:txBody>
      </p:sp>
      <p:sp>
        <p:nvSpPr>
          <p:cNvPr id="41" name="Cell text"/>
          <p:cNvSpPr txBox="1"/>
          <p:nvPr/>
        </p:nvSpPr>
        <p:spPr>
          <a:xfrm>
            <a:off x="923200" y="3395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External gate</a:t>
            </a:r>
          </a:p>
        </p:txBody>
      </p:sp>
      <p:sp>
        <p:nvSpPr>
          <p:cNvPr id="42" name="Cell text"/>
          <p:cNvSpPr txBox="1"/>
          <p:nvPr/>
        </p:nvSpPr>
        <p:spPr>
          <a:xfrm>
            <a:off x="3673200" y="3395000"/>
            <a:ext cx="27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common-reference rows becoming superiority</a:t>
            </a:r>
          </a:p>
        </p:txBody>
      </p:sp>
      <p:sp>
        <p:nvSpPr>
          <p:cNvPr id="43" name="Cell text"/>
          <p:cNvSpPr txBox="1"/>
          <p:nvPr/>
        </p:nvSpPr>
        <p:spPr>
          <a:xfrm>
            <a:off x="6823200" y="3395000"/>
            <a:ext cx="206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CMAME_EXTERNAL_BASELINE_GATE.json</a:t>
            </a:r>
          </a:p>
        </p:txBody>
      </p:sp>
      <p:sp>
        <p:nvSpPr>
          <p:cNvPr id="44" name="Cell text"/>
          <p:cNvSpPr txBox="1"/>
          <p:nvPr/>
        </p:nvSpPr>
        <p:spPr>
          <a:xfrm>
            <a:off x="9273200" y="3395000"/>
            <a:ext cx="183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open</a:t>
            </a:r>
          </a:p>
        </p:txBody>
      </p:sp>
      <p:sp>
        <p:nvSpPr>
          <p:cNvPr id="45" name="Cell text"/>
          <p:cNvSpPr txBox="1"/>
          <p:nvPr/>
        </p:nvSpPr>
        <p:spPr>
          <a:xfrm>
            <a:off x="923200" y="4085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TFE gate</a:t>
            </a:r>
          </a:p>
        </p:txBody>
      </p:sp>
      <p:sp>
        <p:nvSpPr>
          <p:cNvPr id="46" name="Cell text"/>
          <p:cNvSpPr txBox="1"/>
          <p:nvPr/>
        </p:nvSpPr>
        <p:spPr>
          <a:xfrm>
            <a:off x="3673200" y="4085000"/>
            <a:ext cx="27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paper-style formula maps becoming full replacement</a:t>
            </a:r>
          </a:p>
        </p:txBody>
      </p:sp>
      <p:sp>
        <p:nvSpPr>
          <p:cNvPr id="47" name="Cell text"/>
          <p:cNvSpPr txBox="1"/>
          <p:nvPr/>
        </p:nvSpPr>
        <p:spPr>
          <a:xfrm>
            <a:off x="6823200" y="4085000"/>
            <a:ext cx="206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FULL_TFE_REPLACEMENT_GAP_LEDGER.md</a:t>
            </a:r>
          </a:p>
        </p:txBody>
      </p:sp>
      <p:sp>
        <p:nvSpPr>
          <p:cNvPr id="48" name="Cell text"/>
          <p:cNvSpPr txBox="1"/>
          <p:nvPr/>
        </p:nvSpPr>
        <p:spPr>
          <a:xfrm>
            <a:off x="9273200" y="4085000"/>
            <a:ext cx="183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open</a:t>
            </a:r>
          </a:p>
        </p:txBody>
      </p:sp>
      <p:sp>
        <p:nvSpPr>
          <p:cNvPr id="49" name="Cell text"/>
          <p:cNvSpPr txBox="1"/>
          <p:nvPr/>
        </p:nvSpPr>
        <p:spPr>
          <a:xfrm>
            <a:off x="923200" y="4775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Submission gate</a:t>
            </a:r>
          </a:p>
        </p:txBody>
      </p:sp>
      <p:sp>
        <p:nvSpPr>
          <p:cNvPr id="50" name="Cell text"/>
          <p:cNvSpPr txBox="1"/>
          <p:nvPr/>
        </p:nvSpPr>
        <p:spPr>
          <a:xfrm>
            <a:off x="3673200" y="4775000"/>
            <a:ext cx="277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validator pass becoming submission-ready</a:t>
            </a:r>
          </a:p>
        </p:txBody>
      </p:sp>
      <p:sp>
        <p:nvSpPr>
          <p:cNvPr id="51" name="Cell text"/>
          <p:cNvSpPr txBox="1"/>
          <p:nvPr/>
        </p:nvSpPr>
        <p:spPr>
          <a:xfrm>
            <a:off x="6823200" y="4775000"/>
            <a:ext cx="206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CMAME_BLOCKER_CLOSURE_GATE.json</a:t>
            </a:r>
          </a:p>
        </p:txBody>
      </p:sp>
      <p:sp>
        <p:nvSpPr>
          <p:cNvPr id="52" name="Cell text"/>
          <p:cNvSpPr txBox="1"/>
          <p:nvPr/>
        </p:nvSpPr>
        <p:spPr>
          <a:xfrm>
            <a:off x="9273200" y="4775000"/>
            <a:ext cx="183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global open</a:t>
            </a:r>
          </a:p>
        </p:txBody>
      </p:sp>
      <p:sp>
        <p:nvSpPr>
          <p:cNvPr id="5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5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5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 boundary as a visual artifact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can show the boundary instead of burying it in prose.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This is valuable for humans reviewing a long autonomous run.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makes non-claims part of the presentation.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paper package uses a figure to separate accepted evidence, bounded diagnostics, and open gates.</a:t>
            </a:r>
          </a:p>
        </p:txBody>
      </p:sp>
      <p:pic>
        <p:nvPicPr>
          <p:cNvPr id="7" name="claim_boundary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256" y="1480000"/>
            <a:ext cx="5387888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Proof route versus proof residue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Accepted direct route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Direct residual-bridge/Kantorovich route.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96 non-dynamic certificate rows.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36 Newton-Euler direct-substitution zero rows.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Active PC2 closed in this route.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Still diagnostic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Primitive 162-subterm Taylor lane.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Residual-to-error promotion for closed-loop rows.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Fixed-tolerance logs as theorem evidence.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Source-policy superiority.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has hard non-claims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25089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35071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3507100" y="1850000"/>
            <a:ext cx="25089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61760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6176000" y="1850000"/>
            <a:ext cx="25089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1" name="Metric card"/>
          <p:cNvSpPr/>
          <p:nvPr/>
        </p:nvSpPr>
        <p:spPr>
          <a:xfrm>
            <a:off x="88449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Metric accent"/>
          <p:cNvSpPr/>
          <p:nvPr/>
        </p:nvSpPr>
        <p:spPr>
          <a:xfrm>
            <a:off x="8844900" y="1850000"/>
            <a:ext cx="25089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" name="Metric value"/>
          <p:cNvSpPr txBox="1"/>
          <p:nvPr/>
        </p:nvSpPr>
        <p:spPr>
          <a:xfrm>
            <a:off x="9582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false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9982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submission_ready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36271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false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36671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external_superiority_claim</a:t>
            </a:r>
          </a:p>
        </p:txBody>
      </p:sp>
      <p:sp>
        <p:nvSpPr>
          <p:cNvPr id="17" name="Metric value"/>
          <p:cNvSpPr txBox="1"/>
          <p:nvPr/>
        </p:nvSpPr>
        <p:spPr>
          <a:xfrm>
            <a:off x="62960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false</a:t>
            </a:r>
          </a:p>
        </p:txBody>
      </p:sp>
      <p:sp>
        <p:nvSpPr>
          <p:cNvPr id="18" name="Metric label"/>
          <p:cNvSpPr txBox="1"/>
          <p:nvPr/>
        </p:nvSpPr>
        <p:spPr>
          <a:xfrm>
            <a:off x="63360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full_tfe_stage_replacement</a:t>
            </a:r>
          </a:p>
        </p:txBody>
      </p:sp>
      <p:sp>
        <p:nvSpPr>
          <p:cNvPr id="19" name="Metric value"/>
          <p:cNvSpPr txBox="1"/>
          <p:nvPr/>
        </p:nvSpPr>
        <p:spPr>
          <a:xfrm>
            <a:off x="89649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opt-in</a:t>
            </a:r>
          </a:p>
        </p:txBody>
      </p:sp>
      <p:sp>
        <p:nvSpPr>
          <p:cNvPr id="20" name="Metric label"/>
          <p:cNvSpPr txBox="1"/>
          <p:nvPr/>
        </p:nvSpPr>
        <p:spPr>
          <a:xfrm>
            <a:off x="90049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strict 1e-4 public-policy runs</a:t>
            </a:r>
          </a:p>
        </p:txBody>
      </p:sp>
      <p:sp>
        <p:nvSpPr>
          <p:cNvPr id="21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These fields are allowed to remain false while the narrower research claim is still useful.</a:t>
            </a:r>
          </a:p>
        </p:txBody>
      </p:sp>
      <p:sp>
        <p:nvSpPr>
          <p:cNvPr id="2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4 / Case Study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v047/v048 as an agent-built research product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method is technical; here the point is how the agent managed the research.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the agent helped assemble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25089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35071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3507100" y="1850000"/>
            <a:ext cx="25089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61760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6176000" y="1850000"/>
            <a:ext cx="25089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Metric card"/>
          <p:cNvSpPr/>
          <p:nvPr/>
        </p:nvSpPr>
        <p:spPr>
          <a:xfrm>
            <a:off x="88449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Metric accent"/>
          <p:cNvSpPr/>
          <p:nvPr/>
        </p:nvSpPr>
        <p:spPr>
          <a:xfrm>
            <a:off x="8844900" y="1850000"/>
            <a:ext cx="25089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Metric value"/>
          <p:cNvSpPr txBox="1"/>
          <p:nvPr/>
        </p:nvSpPr>
        <p:spPr>
          <a:xfrm>
            <a:off x="9582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v047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9982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cylindrical-chain method pipeline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36271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v048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36671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cross-paper same-test scaffold</a:t>
            </a:r>
          </a:p>
        </p:txBody>
      </p:sp>
      <p:sp>
        <p:nvSpPr>
          <p:cNvPr id="17" name="Metric value"/>
          <p:cNvSpPr txBox="1"/>
          <p:nvPr/>
        </p:nvSpPr>
        <p:spPr>
          <a:xfrm>
            <a:off x="62960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B1-B8</a:t>
            </a:r>
          </a:p>
        </p:txBody>
      </p:sp>
      <p:sp>
        <p:nvSpPr>
          <p:cNvPr id="18" name="Metric label"/>
          <p:cNvSpPr txBox="1"/>
          <p:nvPr/>
        </p:nvSpPr>
        <p:spPr>
          <a:xfrm>
            <a:off x="63360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narrowed claim blockers closed</a:t>
            </a:r>
          </a:p>
        </p:txBody>
      </p:sp>
      <p:sp>
        <p:nvSpPr>
          <p:cNvPr id="19" name="Metric value"/>
          <p:cNvSpPr txBox="1"/>
          <p:nvPr/>
        </p:nvSpPr>
        <p:spPr>
          <a:xfrm>
            <a:off x="89649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OC4/6/12</a:t>
            </a:r>
          </a:p>
        </p:txBody>
      </p:sp>
      <p:sp>
        <p:nvSpPr>
          <p:cNvPr id="20" name="Metric label"/>
          <p:cNvSpPr txBox="1"/>
          <p:nvPr/>
        </p:nvSpPr>
        <p:spPr>
          <a:xfrm>
            <a:off x="90049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global submission blockers still open</a:t>
            </a:r>
          </a:p>
        </p:txBody>
      </p:sp>
      <p:sp>
        <p:nvSpPr>
          <p:cNvPr id="21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architecture supports a useful narrowed result without hiding the global gaps.</a:t>
            </a:r>
          </a:p>
        </p:txBody>
      </p:sp>
      <p:sp>
        <p:nvSpPr>
          <p:cNvPr id="2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paper result matrix is an agent-facing dashboard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This is not just a paper figure.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is a compressed state representation for the agent and the human.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matrix prevents isolated rows from being over-promoted.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result matrix makes examples, methods, orders, and boundaries reviewable in one place.</a:t>
            </a:r>
          </a:p>
        </p:txBody>
      </p:sp>
      <p:pic>
        <p:nvPicPr>
          <p:cNvPr id="7" name="all_method_resul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178" y="1480000"/>
            <a:ext cx="5248043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Common-reference evidence is useful but bounded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can run and summarize fairer rows.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still keeps source-policy rows at 0/40 promoted.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difference between useful and claim-ready evidence is explicit.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v048 records common-reference work/precision evidence without converting it into source-policy superiority.</a:t>
            </a:r>
          </a:p>
        </p:txBody>
      </p:sp>
      <p:pic>
        <p:nvPicPr>
          <p:cNvPr id="7" name="strict_common_reference_work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097094"/>
            <a:ext cx="7050000" cy="3015811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Closed-loop dynamics moved from plan to candidate evidence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First a feasibility audit.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Then residual scaffold.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Then one-step smoke.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Then coarse order candidates and work/precision rows.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v048 closed-loop true-dynamic rows are a good example of incremental autonomous progress.</a:t>
            </a:r>
          </a:p>
        </p:txBody>
      </p:sp>
      <p:pic>
        <p:nvPicPr>
          <p:cNvPr id="7" name="closed_loop_true_dynamic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775" y="1480000"/>
            <a:ext cx="5592849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hard open problem stays visible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ruled out many nearby families.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localized the gap to lower-pair closure directions.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did not rewrite the conclusion to make the gap disappear.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Full-TFE replacement remains open because terminal closure and smooth order do not intersect.</a:t>
            </a:r>
          </a:p>
        </p:txBody>
      </p:sp>
      <p:pic>
        <p:nvPicPr>
          <p:cNvPr id="7" name="order_closure_bl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667975"/>
            <a:ext cx="7050000" cy="187405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case study shows the agent doing research work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keeps a broad objective active across many small turns.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separates method evidence, proof evidence, paper evidence, and external evidence.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turns failed probes into structured exclusions.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creates reviewer-facing artifacts while preserving non-claims.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5 / Lessons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generalizes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pipeline is a pattern for agentic research, not only this integrator project.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Design pattern: artifact-grounded autonomy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mark"/>
          <p:cNvSpPr/>
          <p:nvPr/>
        </p:nvSpPr>
        <p:spPr>
          <a:xfrm>
            <a:off x="838200" y="459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0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Use a current contract file as the first read on every turn.</a:t>
            </a:r>
          </a:p>
        </p:txBody>
      </p:sp>
      <p:sp>
        <p:nvSpPr>
          <p:cNvPr id="11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Represent claims as JSON/Markdown gates with validators.</a:t>
            </a:r>
          </a:p>
        </p:txBody>
      </p:sp>
      <p:sp>
        <p:nvSpPr>
          <p:cNvPr id="12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Store evidence in small, typed artifacts: CSV, JSON, PNG, reports.</a:t>
            </a:r>
          </a:p>
        </p:txBody>
      </p:sp>
      <p:sp>
        <p:nvSpPr>
          <p:cNvPr id="13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Make expensive or policy-sensitive commands opt-in.</a:t>
            </a:r>
          </a:p>
        </p:txBody>
      </p:sp>
      <p:sp>
        <p:nvSpPr>
          <p:cNvPr id="14" name="Bullet 5"/>
          <p:cNvSpPr txBox="1"/>
          <p:nvPr/>
        </p:nvSpPr>
        <p:spPr>
          <a:xfrm>
            <a:off x="1068200" y="453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Treat negative evidence as part of the result.</a:t>
            </a:r>
          </a:p>
        </p:txBody>
      </p:sp>
      <p:sp>
        <p:nvSpPr>
          <p:cNvPr id="15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the agent should do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Autonomous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Read current state.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Select the next missing gate.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Run bounded checks.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Generate artifacts.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Summarize evidence and non-evidence.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Human-controlled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Change the research objective.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Approve strict source-policy campaigns.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Decide when a narrowed claim is worth submitting.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Accept broader claim promotion.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we would improve next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18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3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15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387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mark"/>
          <p:cNvSpPr/>
          <p:nvPr/>
        </p:nvSpPr>
        <p:spPr>
          <a:xfrm>
            <a:off x="838200" y="4598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0" name="Bullet 1"/>
          <p:cNvSpPr txBox="1"/>
          <p:nvPr/>
        </p:nvSpPr>
        <p:spPr>
          <a:xfrm>
            <a:off x="1068200" y="165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smaller domain-specific language for claim gates.</a:t>
            </a:r>
          </a:p>
        </p:txBody>
      </p:sp>
      <p:sp>
        <p:nvSpPr>
          <p:cNvPr id="11" name="Bullet 2"/>
          <p:cNvSpPr txBox="1"/>
          <p:nvPr/>
        </p:nvSpPr>
        <p:spPr>
          <a:xfrm>
            <a:off x="1068200" y="237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Better automatic figure and table generation from JSON ledgers.</a:t>
            </a:r>
          </a:p>
        </p:txBody>
      </p:sp>
      <p:sp>
        <p:nvSpPr>
          <p:cNvPr id="12" name="Bullet 3"/>
          <p:cNvSpPr txBox="1"/>
          <p:nvPr/>
        </p:nvSpPr>
        <p:spPr>
          <a:xfrm>
            <a:off x="1068200" y="309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Subagent review roles for proof, numerical policy, and paper package audits.</a:t>
            </a:r>
          </a:p>
        </p:txBody>
      </p:sp>
      <p:sp>
        <p:nvSpPr>
          <p:cNvPr id="13" name="Bullet 4"/>
          <p:cNvSpPr txBox="1"/>
          <p:nvPr/>
        </p:nvSpPr>
        <p:spPr>
          <a:xfrm>
            <a:off x="1068200" y="381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Cost-aware scheduling for external same-test campaigns.</a:t>
            </a:r>
          </a:p>
        </p:txBody>
      </p:sp>
      <p:sp>
        <p:nvSpPr>
          <p:cNvPr id="14" name="Bullet 5"/>
          <p:cNvSpPr txBox="1"/>
          <p:nvPr/>
        </p:nvSpPr>
        <p:spPr>
          <a:xfrm>
            <a:off x="1068200" y="4530000"/>
            <a:ext cx="9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compact dashboard that shows accepted, diagnostic, open, and forbidden claims.</a:t>
            </a:r>
          </a:p>
        </p:txBody>
      </p:sp>
      <p:sp>
        <p:nvSpPr>
          <p:cNvPr id="15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Conclusion</a:t>
            </a:r>
          </a:p>
        </p:txBody>
      </p:sp>
      <p:sp>
        <p:nvSpPr>
          <p:cNvPr id="5" name="Accent"/>
          <p:cNvSpPr/>
          <p:nvPr/>
        </p:nvSpPr>
        <p:spPr>
          <a:xfrm>
            <a:off x="838200" y="3890000"/>
            <a:ext cx="55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Headline"/>
          <p:cNvSpPr txBox="1"/>
          <p:nvPr/>
        </p:nvSpPr>
        <p:spPr>
          <a:xfrm>
            <a:off x="838200" y="1700000"/>
            <a:ext cx="105156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is not a magic scientist.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is a disciplined research operating system.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1288200" y="3900000"/>
            <a:ext cx="9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Its leverage comes from durable artifacts, validators, and conservative claim boundaries.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v047/v048 project shows that this can sustain months of technical search.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same pattern can be reused wherever research progress depends on evidence hygiene.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d spine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hanks"/>
          <p:cNvSpPr txBox="1"/>
          <p:nvPr/>
        </p:nvSpPr>
        <p:spPr>
          <a:xfrm>
            <a:off x="760000" y="1570000"/>
            <a:ext cx="105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4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Thank You</a:t>
            </a:r>
          </a:p>
        </p:txBody>
      </p:sp>
      <p:sp>
        <p:nvSpPr>
          <p:cNvPr id="5" name="Questions"/>
          <p:cNvSpPr txBox="1"/>
          <p:nvPr/>
        </p:nvSpPr>
        <p:spPr>
          <a:xfrm>
            <a:off x="760000" y="2750000"/>
            <a:ext cx="10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Questions?</a:t>
            </a:r>
          </a:p>
        </p:txBody>
      </p:sp>
      <p:sp>
        <p:nvSpPr>
          <p:cNvPr id="6" name="Closing note"/>
          <p:cNvSpPr txBox="1"/>
          <p:nvPr/>
        </p:nvSpPr>
        <p:spPr>
          <a:xfrm>
            <a:off x="1050000" y="436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Meta claim: autonomous research becomes reliable when claims are executable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2" baseType="variant">
      <vt:variant>
        <vt:lpstr>Slide Titles</vt:lpstr>
      </vt:variant>
      <vt:variant>
        <vt:i4>34</vt:i4>
      </vt:variant>
    </vt:vector>
  </HeadingPairs>
  <TitlesOfParts>
    <vt:vector size="34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Artifact-Grounded Auto-Research Agent Meta Slides</dc:title>
  <dc:creator>Codex</dc:creator>
  <cp:lastModifiedBy>Codex</cp:lastModifiedBy>
  <dcterms:created xsi:type="dcterms:W3CDTF">2026-06-09T17:30:00Z</dcterms:created>
  <dcterms:modified xsi:type="dcterms:W3CDTF">2026-06-09T17:30:00Z</dcterms:modified>
</cp:coreProperties>
</file>