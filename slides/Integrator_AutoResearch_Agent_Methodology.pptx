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72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4" autoAdjust="0"/>
    <p:restoredTop sz="78670" autoAdjust="0"/>
  </p:normalViewPr>
  <p:slideViewPr>
    <p:cSldViewPr snapToGrid="0">
      <p:cViewPr varScale="1">
        <p:scale>
          <a:sx n="79" d="100"/>
          <a:sy n="79" d="100"/>
        </p:scale>
        <p:origin x="3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2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22016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theme" Target="theme/theme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CA0-5F79-4EC3-B9FF-DD93D005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6431"/>
            <a:ext cx="10515600" cy="2092570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C9AC-ED88-4F74-BD7A-2F0BB803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4646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48C4F-F720-7D87-F739-CB523400F1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28960" y="6209450"/>
            <a:ext cx="1921380" cy="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5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21F2CD-9866-4A35-AB75-BCEFA474E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CBD90-F957-997D-12DC-DAF4A10B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65C2-1ABD-FC4D-5767-FFC8FBC9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BE2B75-4015-0A19-00BE-9FD5E506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842B61D-D559-A85F-FC5F-E170B796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042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28E0-D269-49CB-A8F3-06105EBD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F4BA7D-A193-4AA8-9B3C-8DAABC30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BAEAC-1F6F-A7E7-D61B-8911F71E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2B46C-326E-348C-0475-9F3618EF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9E519-2C9B-E44C-89D5-ACD02CAB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16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CA0-5F79-4EC3-B9FF-DD93D005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6431"/>
            <a:ext cx="10515600" cy="209257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C9AC-ED88-4F74-BD7A-2F0BB803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4646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09038-14E7-3677-07E4-8DEBEF96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1560E-229C-3960-AEF9-8BC5D779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61214-CFA3-9422-9130-EFB43F99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5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8552-FC0F-4F0C-B233-4B0363A5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ED8A-2D16-4D3B-8330-E083BF9A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541D0-50A1-422F-A216-29433806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8EC5C-857E-6B6F-AF0B-051A0CC8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CA0C2-6AB3-0BB5-89FA-80C40229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C9A4F-D42A-F2D1-B7BC-90B82474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02C776-D033-4AB1-B9D3-C15F7246CB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92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0D6D-3C44-4177-AA6D-9DF1D585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D55E-B92D-05D8-D53E-D3F5125F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B0B1-5519-2119-2F07-5E9DF6C7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8A785-CDD4-D078-1B4A-A7E6694D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9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A4539-6EE0-452B-9864-C0E97E8A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3464-0243-B53A-6D6E-9AC83EBD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F3A16-7D21-8D14-6654-3786FB60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68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DB77-6CB9-4A91-8CD2-503902A3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096DA-711C-4BE1-A5CF-FC0E92B2B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849E7-C0D6-4297-BBA8-ADC7BA3E0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8D3B8-1615-31ED-ADB8-57B39494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C7E4E-77BB-F4C5-612A-A2AF9110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7A9F6-837C-BAD8-40D0-EE441277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7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037AF-8F80-4850-B8F8-79D0E4F0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AEF32-8FB4-4254-A2DB-ADCAA226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4FEAD-EF13-4307-8F3A-5FA683583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0C9DB-D9DB-4AEF-9074-3627FE6D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CE9E-47DD-46B4-BCE6-31F6270BD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02C776-D033-4AB1-B9D3-C15F7246CB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4DB3B-6B1B-56C0-EACC-00E2B42002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40833" y="167549"/>
            <a:ext cx="1425933" cy="3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0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00" r:id="rId2"/>
    <p:sldLayoutId id="2147483701" r:id="rId3"/>
    <p:sldLayoutId id="2147483702" r:id="rId4"/>
    <p:sldLayoutId id="2147483703" r:id="rId5"/>
    <p:sldLayoutId id="2147483705" r:id="rId6"/>
    <p:sldLayoutId id="2147483706" r:id="rId7"/>
    <p:sldLayoutId id="214748370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1.png"/><Relationship Id="rId3" Type="http://schemas.openxmlformats.org/officeDocument/2006/relationships/image" Target="../media/integrator_agent_image2.png"/><Relationship Id="rId4" Type="http://schemas.openxmlformats.org/officeDocument/2006/relationships/image" Target="../media/integrator_agent_image3.png"/><Relationship Id="rId5" Type="http://schemas.openxmlformats.org/officeDocument/2006/relationships/image" Target="../media/integrator_agent_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3.png"/><Relationship Id="rId3" Type="http://schemas.openxmlformats.org/officeDocument/2006/relationships/image" Target="../media/integrator_agent_image6.png"/><Relationship Id="rId4" Type="http://schemas.openxmlformats.org/officeDocument/2006/relationships/image" Target="../media/integrator_agent_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9.png"/><Relationship Id="rId3" Type="http://schemas.openxmlformats.org/officeDocument/2006/relationships/image" Target="../media/integrator_agent_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11.png"/><Relationship Id="rId3" Type="http://schemas.openxmlformats.org/officeDocument/2006/relationships/image" Target="../media/integrator_agent_image1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13.png"/><Relationship Id="rId3" Type="http://schemas.openxmlformats.org/officeDocument/2006/relationships/image" Target="../media/integrator_agent_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ntegrator_agent_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d spine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Image panel"/>
          <p:cNvSpPr/>
          <p:nvPr/>
        </p:nvSpPr>
        <p:spPr>
          <a:xfrm>
            <a:off x="6600000" y="760000"/>
            <a:ext cx="4900000" cy="1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5" name="Image panel"/>
          <p:cNvSpPr/>
          <p:nvPr/>
        </p:nvSpPr>
        <p:spPr>
          <a:xfrm>
            <a:off x="6600000" y="2520000"/>
            <a:ext cx="2330000" cy="1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Image panel"/>
          <p:cNvSpPr/>
          <p:nvPr/>
        </p:nvSpPr>
        <p:spPr>
          <a:xfrm>
            <a:off x="9160000" y="2520000"/>
            <a:ext cx="2340000" cy="1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Image panel"/>
          <p:cNvSpPr/>
          <p:nvPr/>
        </p:nvSpPr>
        <p:spPr>
          <a:xfrm>
            <a:off x="6600000" y="4520000"/>
            <a:ext cx="4900000" cy="1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8" name="Title"/>
          <p:cNvSpPr txBox="1"/>
          <p:nvPr/>
        </p:nvSpPr>
        <p:spPr>
          <a:xfrm>
            <a:off x="720000" y="850000"/>
            <a:ext cx="55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Building an Auto-Research Agent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for Integrator Research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760000" y="2520000"/>
            <a:ext cx="555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Verifier sandboxes, proof gates, and numerical test ladders for Lie-group multibody DAE methods</a:t>
            </a:r>
          </a:p>
        </p:txBody>
      </p:sp>
      <p:sp>
        <p:nvSpPr>
          <p:cNvPr id="10" name="Author"/>
          <p:cNvSpPr txBox="1"/>
          <p:nvPr/>
        </p:nvSpPr>
        <p:spPr>
          <a:xfrm>
            <a:off x="760000" y="406000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Jingquan Wang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Simulation-Based Engineering Laboratory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1" name="Date"/>
          <p:cNvSpPr txBox="1"/>
          <p:nvPr/>
        </p:nvSpPr>
        <p:spPr>
          <a:xfrm>
            <a:off x="760000" y="5300000"/>
            <a:ext cx="2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2" name="Image caption"/>
          <p:cNvSpPr txBox="1"/>
          <p:nvPr/>
        </p:nvSpPr>
        <p:spPr>
          <a:xfrm>
            <a:off x="6710000" y="2080000"/>
            <a:ext cx="468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method object</a:t>
            </a:r>
          </a:p>
        </p:txBody>
      </p:sp>
      <p:sp>
        <p:nvSpPr>
          <p:cNvPr id="13" name="Image caption"/>
          <p:cNvSpPr txBox="1"/>
          <p:nvPr/>
        </p:nvSpPr>
        <p:spPr>
          <a:xfrm>
            <a:off x="6710000" y="4080000"/>
            <a:ext cx="211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order verifier</a:t>
            </a:r>
          </a:p>
        </p:txBody>
      </p:sp>
      <p:sp>
        <p:nvSpPr>
          <p:cNvPr id="14" name="Image caption"/>
          <p:cNvSpPr txBox="1"/>
          <p:nvPr/>
        </p:nvSpPr>
        <p:spPr>
          <a:xfrm>
            <a:off x="9270000" y="4080000"/>
            <a:ext cx="212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mechanism gate</a:t>
            </a:r>
          </a:p>
        </p:txBody>
      </p:sp>
      <p:sp>
        <p:nvSpPr>
          <p:cNvPr id="15" name="Image caption"/>
          <p:cNvSpPr txBox="1"/>
          <p:nvPr/>
        </p:nvSpPr>
        <p:spPr>
          <a:xfrm>
            <a:off x="6710000" y="5360000"/>
            <a:ext cx="468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claim boundary</a:t>
            </a:r>
          </a:p>
        </p:txBody>
      </p:sp>
      <p:pic>
        <p:nvPicPr>
          <p:cNvPr id="16" name="method_stag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5" y="830000"/>
            <a:ext cx="1918450" cy="1150000"/>
          </a:xfrm>
          <a:prstGeom prst="rect">
            <a:avLst/>
          </a:prstGeom>
        </p:spPr>
      </p:pic>
      <p:pic>
        <p:nvPicPr>
          <p:cNvPr id="17" name="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865" y="2590000"/>
            <a:ext cx="1738270" cy="1390000"/>
          </a:xfrm>
          <a:prstGeom prst="rect">
            <a:avLst/>
          </a:prstGeom>
        </p:spPr>
      </p:pic>
      <p:pic>
        <p:nvPicPr>
          <p:cNvPr id="18" name="asme_lower_pair_graph_bri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715" y="2590000"/>
            <a:ext cx="1602569" cy="1390000"/>
          </a:xfrm>
          <a:prstGeom prst="rect">
            <a:avLst/>
          </a:prstGeom>
        </p:spPr>
      </p:pic>
      <p:pic>
        <p:nvPicPr>
          <p:cNvPr id="19" name="claim_boundary_limit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308" y="4590000"/>
            <a:ext cx="849384" cy="67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Why this matters in our lab</a:t>
            </a:r>
          </a:p>
        </p:txBody>
      </p:sp>
      <p:sp>
        <p:nvSpPr>
          <p:cNvPr id="5" name="Center"/>
          <p:cNvSpPr/>
          <p:nvPr/>
        </p:nvSpPr>
        <p:spPr>
          <a:xfrm>
            <a:off x="4598200" y="2560000"/>
            <a:ext cx="3000000" cy="1050000"/>
          </a:xfrm>
          <a:prstGeom prst="rect">
            <a:avLst/>
          </a:prstGeom>
          <a:solidFill>
            <a:srgbClr val="FFF1F1"/>
          </a:solidFill>
          <a:ln w="12700">
            <a:solidFill>
              <a:srgbClr val="C00000"/>
            </a:solidFill>
          </a:ln>
        </p:spPr>
      </p:sp>
      <p:sp>
        <p:nvSpPr>
          <p:cNvPr id="6" name="Lab node"/>
          <p:cNvSpPr/>
          <p:nvPr/>
        </p:nvSpPr>
        <p:spPr>
          <a:xfrm>
            <a:off x="838200" y="1900000"/>
            <a:ext cx="2800000" cy="8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Lab node accent"/>
          <p:cNvSpPr/>
          <p:nvPr/>
        </p:nvSpPr>
        <p:spPr>
          <a:xfrm>
            <a:off x="838200" y="1900000"/>
            <a:ext cx="2800000" cy="7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8" name="Lab node"/>
          <p:cNvSpPr/>
          <p:nvPr/>
        </p:nvSpPr>
        <p:spPr>
          <a:xfrm>
            <a:off x="8338200" y="1900000"/>
            <a:ext cx="2800000" cy="8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Lab node accent"/>
          <p:cNvSpPr/>
          <p:nvPr/>
        </p:nvSpPr>
        <p:spPr>
          <a:xfrm>
            <a:off x="8338200" y="1900000"/>
            <a:ext cx="2800000" cy="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0" name="Lab node"/>
          <p:cNvSpPr/>
          <p:nvPr/>
        </p:nvSpPr>
        <p:spPr>
          <a:xfrm>
            <a:off x="838200" y="4060000"/>
            <a:ext cx="2800000" cy="8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1" name="Lab node accent"/>
          <p:cNvSpPr/>
          <p:nvPr/>
        </p:nvSpPr>
        <p:spPr>
          <a:xfrm>
            <a:off x="838200" y="4060000"/>
            <a:ext cx="2800000" cy="7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2" name="Lab node"/>
          <p:cNvSpPr/>
          <p:nvPr/>
        </p:nvSpPr>
        <p:spPr>
          <a:xfrm>
            <a:off x="4598200" y="4480000"/>
            <a:ext cx="2800000" cy="8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3" name="Lab node accent"/>
          <p:cNvSpPr/>
          <p:nvPr/>
        </p:nvSpPr>
        <p:spPr>
          <a:xfrm>
            <a:off x="4598200" y="4480000"/>
            <a:ext cx="2800000" cy="70000"/>
          </a:xfrm>
          <a:prstGeom prst="rect">
            <a:avLst/>
          </a:prstGeom>
          <a:solidFill>
            <a:srgbClr val="7A4EA3"/>
          </a:solidFill>
          <a:ln>
            <a:noFill/>
          </a:ln>
        </p:spPr>
      </p:sp>
      <p:sp>
        <p:nvSpPr>
          <p:cNvPr id="14" name="Lab node"/>
          <p:cNvSpPr/>
          <p:nvPr/>
        </p:nvSpPr>
        <p:spPr>
          <a:xfrm>
            <a:off x="8338200" y="4060000"/>
            <a:ext cx="2800000" cy="8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5" name="Lab node accent"/>
          <p:cNvSpPr/>
          <p:nvPr/>
        </p:nvSpPr>
        <p:spPr>
          <a:xfrm>
            <a:off x="8338200" y="4060000"/>
            <a:ext cx="2800000" cy="7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6" name="Lead"/>
          <p:cNvSpPr txBox="1"/>
          <p:nvPr/>
        </p:nvSpPr>
        <p:spPr>
          <a:xfrm>
            <a:off x="838200" y="1360000"/>
            <a:ext cx="105156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Many people are attacking the same hard object:</a:t>
            </a:r>
          </a:p>
        </p:txBody>
      </p:sp>
      <p:sp>
        <p:nvSpPr>
          <p:cNvPr id="17" name="Center"/>
          <p:cNvSpPr txBox="1"/>
          <p:nvPr/>
        </p:nvSpPr>
        <p:spPr>
          <a:xfrm>
            <a:off x="4808200" y="2790000"/>
            <a:ext cx="2580000" cy="5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2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defensible multibody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2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time integration</a:t>
            </a:r>
          </a:p>
        </p:txBody>
      </p:sp>
      <p:sp>
        <p:nvSpPr>
          <p:cNvPr id="18" name="Lab head"/>
          <p:cNvSpPr txBox="1"/>
          <p:nvPr/>
        </p:nvSpPr>
        <p:spPr>
          <a:xfrm>
            <a:off x="978200" y="2120000"/>
            <a:ext cx="252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Lie groups</a:t>
            </a:r>
          </a:p>
        </p:txBody>
      </p:sp>
      <p:sp>
        <p:nvSpPr>
          <p:cNvPr id="19" name="Lab body"/>
          <p:cNvSpPr txBox="1"/>
          <p:nvPr/>
        </p:nvSpPr>
        <p:spPr>
          <a:xfrm>
            <a:off x="978200" y="2430000"/>
            <a:ext cx="25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SO(3), SE(3), charts</a:t>
            </a:r>
          </a:p>
        </p:txBody>
      </p:sp>
      <p:sp>
        <p:nvSpPr>
          <p:cNvPr id="20" name="Lab head"/>
          <p:cNvSpPr txBox="1"/>
          <p:nvPr/>
        </p:nvSpPr>
        <p:spPr>
          <a:xfrm>
            <a:off x="8478200" y="2120000"/>
            <a:ext cx="252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DAE mechanisms</a:t>
            </a:r>
          </a:p>
        </p:txBody>
      </p:sp>
      <p:sp>
        <p:nvSpPr>
          <p:cNvPr id="21" name="Lab body"/>
          <p:cNvSpPr txBox="1"/>
          <p:nvPr/>
        </p:nvSpPr>
        <p:spPr>
          <a:xfrm>
            <a:off x="8478200" y="2430000"/>
            <a:ext cx="25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joints, drivers, reactions</a:t>
            </a:r>
          </a:p>
        </p:txBody>
      </p:sp>
      <p:sp>
        <p:nvSpPr>
          <p:cNvPr id="22" name="Lab head"/>
          <p:cNvSpPr txBox="1"/>
          <p:nvPr/>
        </p:nvSpPr>
        <p:spPr>
          <a:xfrm>
            <a:off x="978200" y="4280000"/>
            <a:ext cx="252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friction/contact</a:t>
            </a:r>
          </a:p>
        </p:txBody>
      </p:sp>
      <p:sp>
        <p:nvSpPr>
          <p:cNvPr id="23" name="Lab body"/>
          <p:cNvSpPr txBox="1"/>
          <p:nvPr/>
        </p:nvSpPr>
        <p:spPr>
          <a:xfrm>
            <a:off x="978200" y="4590000"/>
            <a:ext cx="25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smooth vs nonsmooth tests</a:t>
            </a:r>
          </a:p>
        </p:txBody>
      </p:sp>
      <p:sp>
        <p:nvSpPr>
          <p:cNvPr id="24" name="Lab head"/>
          <p:cNvSpPr txBox="1"/>
          <p:nvPr/>
        </p:nvSpPr>
        <p:spPr>
          <a:xfrm>
            <a:off x="4738200" y="4700000"/>
            <a:ext cx="252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sparse solvers</a:t>
            </a:r>
          </a:p>
        </p:txBody>
      </p:sp>
      <p:sp>
        <p:nvSpPr>
          <p:cNvPr id="25" name="Lab body"/>
          <p:cNvSpPr txBox="1"/>
          <p:nvPr/>
        </p:nvSpPr>
        <p:spPr>
          <a:xfrm>
            <a:off x="4738200" y="5010000"/>
            <a:ext cx="25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AD, coloring, Newton</a:t>
            </a:r>
          </a:p>
        </p:txBody>
      </p:sp>
      <p:sp>
        <p:nvSpPr>
          <p:cNvPr id="26" name="Lab head"/>
          <p:cNvSpPr txBox="1"/>
          <p:nvPr/>
        </p:nvSpPr>
        <p:spPr>
          <a:xfrm>
            <a:off x="8478200" y="4280000"/>
            <a:ext cx="252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papers</a:t>
            </a:r>
          </a:p>
        </p:txBody>
      </p:sp>
      <p:sp>
        <p:nvSpPr>
          <p:cNvPr id="27" name="Lab body"/>
          <p:cNvSpPr txBox="1"/>
          <p:nvPr/>
        </p:nvSpPr>
        <p:spPr>
          <a:xfrm>
            <a:off x="8478200" y="4590000"/>
            <a:ext cx="25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benchmarks, claims, refs</a:t>
            </a:r>
          </a:p>
        </p:txBody>
      </p:sp>
      <p:sp>
        <p:nvSpPr>
          <p:cNvPr id="28" name="Takeaway"/>
          <p:cNvSpPr txBox="1"/>
          <p:nvPr/>
        </p:nvSpPr>
        <p:spPr>
          <a:xfrm>
            <a:off x="838200" y="5720000"/>
            <a:ext cx="105156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Agent purpose: keep method identity, examples, proof status, and paper claims synchronized across this shared evidence space.</a:t>
            </a:r>
          </a:p>
        </p:txBody>
      </p:sp>
      <p:sp>
        <p:nvSpPr>
          <p:cNvPr id="29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31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Reference landscape drives the verifier design</a:t>
            </a:r>
          </a:p>
        </p:txBody>
      </p:sp>
      <p:sp>
        <p:nvSpPr>
          <p:cNvPr id="5" name="Header"/>
          <p:cNvSpPr/>
          <p:nvPr/>
        </p:nvSpPr>
        <p:spPr>
          <a:xfrm>
            <a:off x="838200" y="1470000"/>
            <a:ext cx="1750000" cy="39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6" name="Header"/>
          <p:cNvSpPr/>
          <p:nvPr/>
        </p:nvSpPr>
        <p:spPr>
          <a:xfrm>
            <a:off x="2588200" y="1470000"/>
            <a:ext cx="4750000" cy="39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Header"/>
          <p:cNvSpPr/>
          <p:nvPr/>
        </p:nvSpPr>
        <p:spPr>
          <a:xfrm>
            <a:off x="7338200" y="1470000"/>
            <a:ext cx="4015600" cy="39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Cell"/>
          <p:cNvSpPr/>
          <p:nvPr/>
        </p:nvSpPr>
        <p:spPr>
          <a:xfrm>
            <a:off x="838200" y="1865000"/>
            <a:ext cx="17500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Cell"/>
          <p:cNvSpPr/>
          <p:nvPr/>
        </p:nvSpPr>
        <p:spPr>
          <a:xfrm>
            <a:off x="2588200" y="1865000"/>
            <a:ext cx="47500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Cell"/>
          <p:cNvSpPr/>
          <p:nvPr/>
        </p:nvSpPr>
        <p:spPr>
          <a:xfrm>
            <a:off x="7338200" y="1865000"/>
            <a:ext cx="40156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1" name="Cell"/>
          <p:cNvSpPr/>
          <p:nvPr/>
        </p:nvSpPr>
        <p:spPr>
          <a:xfrm>
            <a:off x="838200" y="2465000"/>
            <a:ext cx="175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2" name="Cell"/>
          <p:cNvSpPr/>
          <p:nvPr/>
        </p:nvSpPr>
        <p:spPr>
          <a:xfrm>
            <a:off x="2588200" y="2465000"/>
            <a:ext cx="475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3" name="Cell"/>
          <p:cNvSpPr/>
          <p:nvPr/>
        </p:nvSpPr>
        <p:spPr>
          <a:xfrm>
            <a:off x="7338200" y="2465000"/>
            <a:ext cx="40156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4" name="Cell"/>
          <p:cNvSpPr/>
          <p:nvPr/>
        </p:nvSpPr>
        <p:spPr>
          <a:xfrm>
            <a:off x="838200" y="3065000"/>
            <a:ext cx="17500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5" name="Cell"/>
          <p:cNvSpPr/>
          <p:nvPr/>
        </p:nvSpPr>
        <p:spPr>
          <a:xfrm>
            <a:off x="2588200" y="3065000"/>
            <a:ext cx="47500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6" name="Cell"/>
          <p:cNvSpPr/>
          <p:nvPr/>
        </p:nvSpPr>
        <p:spPr>
          <a:xfrm>
            <a:off x="7338200" y="3065000"/>
            <a:ext cx="40156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7" name="Cell"/>
          <p:cNvSpPr/>
          <p:nvPr/>
        </p:nvSpPr>
        <p:spPr>
          <a:xfrm>
            <a:off x="838200" y="3665000"/>
            <a:ext cx="175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8" name="Cell"/>
          <p:cNvSpPr/>
          <p:nvPr/>
        </p:nvSpPr>
        <p:spPr>
          <a:xfrm>
            <a:off x="2588200" y="3665000"/>
            <a:ext cx="475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9" name="Cell"/>
          <p:cNvSpPr/>
          <p:nvPr/>
        </p:nvSpPr>
        <p:spPr>
          <a:xfrm>
            <a:off x="7338200" y="3665000"/>
            <a:ext cx="40156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20" name="Cell"/>
          <p:cNvSpPr/>
          <p:nvPr/>
        </p:nvSpPr>
        <p:spPr>
          <a:xfrm>
            <a:off x="838200" y="4265000"/>
            <a:ext cx="17500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1" name="Cell"/>
          <p:cNvSpPr/>
          <p:nvPr/>
        </p:nvSpPr>
        <p:spPr>
          <a:xfrm>
            <a:off x="2588200" y="4265000"/>
            <a:ext cx="47500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2" name="Cell"/>
          <p:cNvSpPr/>
          <p:nvPr/>
        </p:nvSpPr>
        <p:spPr>
          <a:xfrm>
            <a:off x="7338200" y="4265000"/>
            <a:ext cx="4015600" cy="6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23" name="Header text"/>
          <p:cNvSpPr txBox="1"/>
          <p:nvPr/>
        </p:nvSpPr>
        <p:spPr>
          <a:xfrm>
            <a:off x="908200" y="1560000"/>
            <a:ext cx="161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stream</a:t>
            </a:r>
          </a:p>
        </p:txBody>
      </p:sp>
      <p:sp>
        <p:nvSpPr>
          <p:cNvPr id="24" name="Header text"/>
          <p:cNvSpPr txBox="1"/>
          <p:nvPr/>
        </p:nvSpPr>
        <p:spPr>
          <a:xfrm>
            <a:off x="2658200" y="1560000"/>
            <a:ext cx="461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references</a:t>
            </a:r>
          </a:p>
        </p:txBody>
      </p:sp>
      <p:sp>
        <p:nvSpPr>
          <p:cNvPr id="25" name="Header text"/>
          <p:cNvSpPr txBox="1"/>
          <p:nvPr/>
        </p:nvSpPr>
        <p:spPr>
          <a:xfrm>
            <a:off x="7408200" y="1560000"/>
            <a:ext cx="38756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agent obligation</a:t>
            </a:r>
          </a:p>
        </p:txBody>
      </p:sp>
      <p:sp>
        <p:nvSpPr>
          <p:cNvPr id="26" name="Cell text"/>
          <p:cNvSpPr txBox="1"/>
          <p:nvPr/>
        </p:nvSpPr>
        <p:spPr>
          <a:xfrm>
            <a:off x="908200" y="1950000"/>
            <a:ext cx="1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index-3 DAE</a:t>
            </a:r>
          </a:p>
        </p:txBody>
      </p:sp>
      <p:sp>
        <p:nvSpPr>
          <p:cNvPr id="27" name="Cell text"/>
          <p:cNvSpPr txBox="1"/>
          <p:nvPr/>
        </p:nvSpPr>
        <p:spPr>
          <a:xfrm>
            <a:off x="2658200" y="1950000"/>
            <a:ext cx="4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Hairer-Wanner; Gear-Leimkuhler-Gupta</a:t>
            </a:r>
          </a:p>
        </p:txBody>
      </p:sp>
      <p:sp>
        <p:nvSpPr>
          <p:cNvPr id="28" name="Cell text"/>
          <p:cNvSpPr txBox="1"/>
          <p:nvPr/>
        </p:nvSpPr>
        <p:spPr>
          <a:xfrm>
            <a:off x="7408200" y="1950000"/>
            <a:ext cx="3875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check Phi, Phi_q v, Phi_q a, multipliers</a:t>
            </a:r>
          </a:p>
        </p:txBody>
      </p:sp>
      <p:sp>
        <p:nvSpPr>
          <p:cNvPr id="29" name="Cell text"/>
          <p:cNvSpPr txBox="1"/>
          <p:nvPr/>
        </p:nvSpPr>
        <p:spPr>
          <a:xfrm>
            <a:off x="908200" y="2550000"/>
            <a:ext cx="1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Lie-group time integration</a:t>
            </a:r>
          </a:p>
        </p:txBody>
      </p:sp>
      <p:sp>
        <p:nvSpPr>
          <p:cNvPr id="30" name="Cell text"/>
          <p:cNvSpPr txBox="1"/>
          <p:nvPr/>
        </p:nvSpPr>
        <p:spPr>
          <a:xfrm>
            <a:off x="2658200" y="2550000"/>
            <a:ext cx="4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Munthe-Kaas; Bruls-Cardona-Arnold; Wieloch-Arnold</a:t>
            </a:r>
          </a:p>
        </p:txBody>
      </p:sp>
      <p:sp>
        <p:nvSpPr>
          <p:cNvPr id="31" name="Cell text"/>
          <p:cNvSpPr txBox="1"/>
          <p:nvPr/>
        </p:nvSpPr>
        <p:spPr>
          <a:xfrm>
            <a:off x="7408200" y="2550000"/>
            <a:ext cx="3875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preserve rotation geometry and method identity</a:t>
            </a:r>
          </a:p>
        </p:txBody>
      </p:sp>
      <p:sp>
        <p:nvSpPr>
          <p:cNvPr id="32" name="Cell text"/>
          <p:cNvSpPr txBox="1"/>
          <p:nvPr/>
        </p:nvSpPr>
        <p:spPr>
          <a:xfrm>
            <a:off x="908200" y="3150000"/>
            <a:ext cx="1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time finite elements</a:t>
            </a:r>
          </a:p>
        </p:txBody>
      </p:sp>
      <p:sp>
        <p:nvSpPr>
          <p:cNvPr id="33" name="Cell text"/>
          <p:cNvSpPr txBox="1"/>
          <p:nvPr/>
        </p:nvSpPr>
        <p:spPr>
          <a:xfrm>
            <a:off x="2658200" y="3150000"/>
            <a:ext cx="4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Borri-Atluri; Hughes-Hulbert; Chaturvedi-Sandu-Sandu</a:t>
            </a:r>
          </a:p>
        </p:txBody>
      </p:sp>
      <p:sp>
        <p:nvSpPr>
          <p:cNvPr id="34" name="Cell text"/>
          <p:cNvSpPr txBox="1"/>
          <p:nvPr/>
        </p:nvSpPr>
        <p:spPr>
          <a:xfrm>
            <a:off x="7408200" y="3150000"/>
            <a:ext cx="3875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separate source residual reproduction from local method claims</a:t>
            </a:r>
          </a:p>
        </p:txBody>
      </p:sp>
      <p:sp>
        <p:nvSpPr>
          <p:cNvPr id="35" name="Cell text"/>
          <p:cNvSpPr txBox="1"/>
          <p:nvPr/>
        </p:nvSpPr>
        <p:spPr>
          <a:xfrm>
            <a:off x="908200" y="3750000"/>
            <a:ext cx="1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SBEL baselines</a:t>
            </a:r>
          </a:p>
        </p:txBody>
      </p:sp>
      <p:sp>
        <p:nvSpPr>
          <p:cNvPr id="36" name="Cell text"/>
          <p:cNvSpPr txBox="1"/>
          <p:nvPr/>
        </p:nvSpPr>
        <p:spPr>
          <a:xfrm>
            <a:off x="2658200" y="3750000"/>
            <a:ext cx="4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Taves-Kissel-Negrut; Kissel-Negrut-Taves; Fang et al.</a:t>
            </a:r>
          </a:p>
        </p:txBody>
      </p:sp>
      <p:sp>
        <p:nvSpPr>
          <p:cNvPr id="37" name="Cell text"/>
          <p:cNvSpPr txBox="1"/>
          <p:nvPr/>
        </p:nvSpPr>
        <p:spPr>
          <a:xfrm>
            <a:off x="7408200" y="3750000"/>
            <a:ext cx="3875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make external rows comparable under explicit policy</a:t>
            </a:r>
          </a:p>
        </p:txBody>
      </p:sp>
      <p:sp>
        <p:nvSpPr>
          <p:cNvPr id="38" name="Cell text"/>
          <p:cNvSpPr txBox="1"/>
          <p:nvPr/>
        </p:nvSpPr>
        <p:spPr>
          <a:xfrm>
            <a:off x="908200" y="4350000"/>
            <a:ext cx="1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friction/contact</a:t>
            </a:r>
          </a:p>
        </p:txBody>
      </p:sp>
      <p:sp>
        <p:nvSpPr>
          <p:cNvPr id="39" name="Cell text"/>
          <p:cNvSpPr txBox="1"/>
          <p:nvPr/>
        </p:nvSpPr>
        <p:spPr>
          <a:xfrm>
            <a:off x="2658200" y="4350000"/>
            <a:ext cx="46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Brown-McPhee; Stewart-Trinkle; Anitescu-Potra</a:t>
            </a:r>
          </a:p>
        </p:txBody>
      </p:sp>
      <p:sp>
        <p:nvSpPr>
          <p:cNvPr id="40" name="Cell text"/>
          <p:cNvSpPr txBox="1"/>
          <p:nvPr/>
        </p:nvSpPr>
        <p:spPr>
          <a:xfrm>
            <a:off x="7408200" y="4350000"/>
            <a:ext cx="3875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separate smooth order from nonsmooth diagnostics</a:t>
            </a:r>
          </a:p>
        </p:txBody>
      </p:sp>
      <p:sp>
        <p:nvSpPr>
          <p:cNvPr id="41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43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Why v001 had to become v048</a:t>
            </a:r>
          </a:p>
        </p:txBody>
      </p:sp>
      <p:sp>
        <p:nvSpPr>
          <p:cNvPr id="5" name="Evolution phase"/>
          <p:cNvSpPr/>
          <p:nvPr/>
        </p:nvSpPr>
        <p:spPr>
          <a:xfrm>
            <a:off x="838200" y="1520000"/>
            <a:ext cx="1500000" cy="11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Evolution accent"/>
          <p:cNvSpPr/>
          <p:nvPr/>
        </p:nvSpPr>
        <p:spPr>
          <a:xfrm>
            <a:off x="838200" y="1520000"/>
            <a:ext cx="15000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Evolution phase"/>
          <p:cNvSpPr/>
          <p:nvPr/>
        </p:nvSpPr>
        <p:spPr>
          <a:xfrm>
            <a:off x="2453200" y="1520000"/>
            <a:ext cx="1500000" cy="11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Evolution accent"/>
          <p:cNvSpPr/>
          <p:nvPr/>
        </p:nvSpPr>
        <p:spPr>
          <a:xfrm>
            <a:off x="2453200" y="1520000"/>
            <a:ext cx="15000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Evolution phase"/>
          <p:cNvSpPr/>
          <p:nvPr/>
        </p:nvSpPr>
        <p:spPr>
          <a:xfrm>
            <a:off x="4068200" y="1520000"/>
            <a:ext cx="1500000" cy="11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Evolution accent"/>
          <p:cNvSpPr/>
          <p:nvPr/>
        </p:nvSpPr>
        <p:spPr>
          <a:xfrm>
            <a:off x="4068200" y="1520000"/>
            <a:ext cx="150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Evolution phase"/>
          <p:cNvSpPr/>
          <p:nvPr/>
        </p:nvSpPr>
        <p:spPr>
          <a:xfrm>
            <a:off x="5683200" y="1520000"/>
            <a:ext cx="1500000" cy="11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Evolution accent"/>
          <p:cNvSpPr/>
          <p:nvPr/>
        </p:nvSpPr>
        <p:spPr>
          <a:xfrm>
            <a:off x="5683200" y="1520000"/>
            <a:ext cx="15000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Evolution phase"/>
          <p:cNvSpPr/>
          <p:nvPr/>
        </p:nvSpPr>
        <p:spPr>
          <a:xfrm>
            <a:off x="7298200" y="1520000"/>
            <a:ext cx="1500000" cy="11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4" name="Evolution accent"/>
          <p:cNvSpPr/>
          <p:nvPr/>
        </p:nvSpPr>
        <p:spPr>
          <a:xfrm>
            <a:off x="7298200" y="1520000"/>
            <a:ext cx="1500000" cy="80000"/>
          </a:xfrm>
          <a:prstGeom prst="rect">
            <a:avLst/>
          </a:prstGeom>
          <a:solidFill>
            <a:srgbClr val="7A4EA3"/>
          </a:solidFill>
          <a:ln>
            <a:noFill/>
          </a:ln>
        </p:spPr>
      </p:sp>
      <p:sp>
        <p:nvSpPr>
          <p:cNvPr id="15" name="Evolution phase"/>
          <p:cNvSpPr/>
          <p:nvPr/>
        </p:nvSpPr>
        <p:spPr>
          <a:xfrm>
            <a:off x="8913200" y="1520000"/>
            <a:ext cx="1500000" cy="11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6" name="Evolution accent"/>
          <p:cNvSpPr/>
          <p:nvPr/>
        </p:nvSpPr>
        <p:spPr>
          <a:xfrm>
            <a:off x="8913200" y="1520000"/>
            <a:ext cx="1500000" cy="8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7" name="Image panel"/>
          <p:cNvSpPr/>
          <p:nvPr/>
        </p:nvSpPr>
        <p:spPr>
          <a:xfrm>
            <a:off x="838200" y="3040000"/>
            <a:ext cx="4950000" cy="2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8" name="Evolution takeaway"/>
          <p:cNvSpPr/>
          <p:nvPr/>
        </p:nvSpPr>
        <p:spPr>
          <a:xfrm>
            <a:off x="6098200" y="3040000"/>
            <a:ext cx="5255600" cy="2430000"/>
          </a:xfrm>
          <a:prstGeom prst="rect">
            <a:avLst/>
          </a:prstGeom>
          <a:solidFill>
            <a:srgbClr val="FFF7E8"/>
          </a:solidFill>
          <a:ln w="12700">
            <a:solidFill>
              <a:srgbClr val="ED7D31"/>
            </a:solidFill>
          </a:ln>
        </p:spPr>
      </p:sp>
      <p:sp>
        <p:nvSpPr>
          <p:cNvPr id="19" name="Version"/>
          <p:cNvSpPr txBox="1"/>
          <p:nvPr/>
        </p:nvSpPr>
        <p:spPr>
          <a:xfrm>
            <a:off x="908200" y="1730000"/>
            <a:ext cx="13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v001-005</a:t>
            </a:r>
          </a:p>
        </p:txBody>
      </p:sp>
      <p:sp>
        <p:nvSpPr>
          <p:cNvPr id="20" name="Phase"/>
          <p:cNvSpPr txBox="1"/>
          <p:nvPr/>
        </p:nvSpPr>
        <p:spPr>
          <a:xfrm>
            <a:off x="908200" y="2095000"/>
            <a:ext cx="1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SO(3) order</a:t>
            </a:r>
          </a:p>
        </p:txBody>
      </p:sp>
      <p:sp>
        <p:nvSpPr>
          <p:cNvPr id="21" name="Arrow"/>
          <p:cNvSpPr txBox="1"/>
          <p:nvPr/>
        </p:nvSpPr>
        <p:spPr>
          <a:xfrm>
            <a:off x="2358200" y="1950000"/>
            <a:ext cx="75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22" name="Version"/>
          <p:cNvSpPr txBox="1"/>
          <p:nvPr/>
        </p:nvSpPr>
        <p:spPr>
          <a:xfrm>
            <a:off x="2523200" y="1730000"/>
            <a:ext cx="13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v006-013</a:t>
            </a:r>
          </a:p>
        </p:txBody>
      </p:sp>
      <p:sp>
        <p:nvSpPr>
          <p:cNvPr id="23" name="Phase"/>
          <p:cNvSpPr txBox="1"/>
          <p:nvPr/>
        </p:nvSpPr>
        <p:spPr>
          <a:xfrm>
            <a:off x="2523200" y="2095000"/>
            <a:ext cx="1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DAE closure</a:t>
            </a:r>
          </a:p>
        </p:txBody>
      </p:sp>
      <p:sp>
        <p:nvSpPr>
          <p:cNvPr id="24" name="Arrow"/>
          <p:cNvSpPr txBox="1"/>
          <p:nvPr/>
        </p:nvSpPr>
        <p:spPr>
          <a:xfrm>
            <a:off x="3973200" y="1950000"/>
            <a:ext cx="75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25" name="Version"/>
          <p:cNvSpPr txBox="1"/>
          <p:nvPr/>
        </p:nvSpPr>
        <p:spPr>
          <a:xfrm>
            <a:off x="4138200" y="1730000"/>
            <a:ext cx="13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v014-022</a:t>
            </a:r>
          </a:p>
        </p:txBody>
      </p:sp>
      <p:sp>
        <p:nvSpPr>
          <p:cNvPr id="26" name="Phase"/>
          <p:cNvSpPr txBox="1"/>
          <p:nvPr/>
        </p:nvSpPr>
        <p:spPr>
          <a:xfrm>
            <a:off x="4138200" y="2095000"/>
            <a:ext cx="1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friction</a:t>
            </a:r>
          </a:p>
        </p:txBody>
      </p:sp>
      <p:sp>
        <p:nvSpPr>
          <p:cNvPr id="27" name="Arrow"/>
          <p:cNvSpPr txBox="1"/>
          <p:nvPr/>
        </p:nvSpPr>
        <p:spPr>
          <a:xfrm>
            <a:off x="5588200" y="1950000"/>
            <a:ext cx="75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28" name="Version"/>
          <p:cNvSpPr txBox="1"/>
          <p:nvPr/>
        </p:nvSpPr>
        <p:spPr>
          <a:xfrm>
            <a:off x="5753200" y="1730000"/>
            <a:ext cx="13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v023-029</a:t>
            </a:r>
          </a:p>
        </p:txBody>
      </p:sp>
      <p:sp>
        <p:nvSpPr>
          <p:cNvPr id="29" name="Phase"/>
          <p:cNvSpPr txBox="1"/>
          <p:nvPr/>
        </p:nvSpPr>
        <p:spPr>
          <a:xfrm>
            <a:off x="5753200" y="2095000"/>
            <a:ext cx="1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FullVA</a:t>
            </a:r>
          </a:p>
        </p:txBody>
      </p:sp>
      <p:sp>
        <p:nvSpPr>
          <p:cNvPr id="30" name="Arrow"/>
          <p:cNvSpPr txBox="1"/>
          <p:nvPr/>
        </p:nvSpPr>
        <p:spPr>
          <a:xfrm>
            <a:off x="7203200" y="1950000"/>
            <a:ext cx="75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31" name="Version"/>
          <p:cNvSpPr txBox="1"/>
          <p:nvPr/>
        </p:nvSpPr>
        <p:spPr>
          <a:xfrm>
            <a:off x="7368200" y="1730000"/>
            <a:ext cx="13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7A4EA3"/>
                </a:solidFill>
                <a:latin typeface="Anthropic Sans"/>
                <a:ea typeface="Anthropic Sans"/>
                <a:cs typeface="Anthropic Sans"/>
              </a:rPr>
              <a:t>v030-045</a:t>
            </a:r>
          </a:p>
        </p:txBody>
      </p:sp>
      <p:sp>
        <p:nvSpPr>
          <p:cNvPr id="32" name="Phase"/>
          <p:cNvSpPr txBox="1"/>
          <p:nvPr/>
        </p:nvSpPr>
        <p:spPr>
          <a:xfrm>
            <a:off x="7368200" y="2095000"/>
            <a:ext cx="1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sparse scaling</a:t>
            </a:r>
          </a:p>
        </p:txBody>
      </p:sp>
      <p:sp>
        <p:nvSpPr>
          <p:cNvPr id="33" name="Arrow"/>
          <p:cNvSpPr txBox="1"/>
          <p:nvPr/>
        </p:nvSpPr>
        <p:spPr>
          <a:xfrm>
            <a:off x="8818200" y="1950000"/>
            <a:ext cx="75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7A4EA3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34" name="Version"/>
          <p:cNvSpPr txBox="1"/>
          <p:nvPr/>
        </p:nvSpPr>
        <p:spPr>
          <a:xfrm>
            <a:off x="8983200" y="1730000"/>
            <a:ext cx="136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v046-048</a:t>
            </a:r>
          </a:p>
        </p:txBody>
      </p:sp>
      <p:sp>
        <p:nvSpPr>
          <p:cNvPr id="35" name="Phase"/>
          <p:cNvSpPr txBox="1"/>
          <p:nvPr/>
        </p:nvSpPr>
        <p:spPr>
          <a:xfrm>
            <a:off x="8983200" y="2095000"/>
            <a:ext cx="13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 gates</a:t>
            </a:r>
          </a:p>
        </p:txBody>
      </p:sp>
      <p:sp>
        <p:nvSpPr>
          <p:cNvPr id="36" name="Image caption"/>
          <p:cNvSpPr txBox="1"/>
          <p:nvPr/>
        </p:nvSpPr>
        <p:spPr>
          <a:xfrm>
            <a:off x="948200" y="5270000"/>
            <a:ext cx="473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evidence matrix</a:t>
            </a:r>
          </a:p>
        </p:txBody>
      </p:sp>
      <p:sp>
        <p:nvSpPr>
          <p:cNvPr id="37" name="Rule head"/>
          <p:cNvSpPr txBox="1"/>
          <p:nvPr/>
        </p:nvSpPr>
        <p:spPr>
          <a:xfrm>
            <a:off x="6358200" y="3250000"/>
            <a:ext cx="473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9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Evolution rule</a:t>
            </a:r>
          </a:p>
        </p:txBody>
      </p:sp>
      <p:sp>
        <p:nvSpPr>
          <p:cNvPr id="38" name="Rule body"/>
          <p:cNvSpPr txBox="1"/>
          <p:nvPr/>
        </p:nvSpPr>
        <p:spPr>
          <a:xfrm>
            <a:off x="6358200" y="3720000"/>
            <a:ext cx="47300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Each version exists because the previous verifier found a missing gate.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is not a generic code loop; it is a blocker-driven research controller.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v048 is the point where external same-test policy becomes a first-class object.</a:t>
            </a:r>
          </a:p>
        </p:txBody>
      </p:sp>
      <p:pic>
        <p:nvPicPr>
          <p:cNvPr id="39" name="all_method_resul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21" y="3110000"/>
            <a:ext cx="2543757" cy="2060000"/>
          </a:xfrm>
          <a:prstGeom prst="rect">
            <a:avLst/>
          </a:prstGeom>
        </p:spPr>
      </p:pic>
      <p:sp>
        <p:nvSpPr>
          <p:cNvPr id="40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41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42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agent we need</a:t>
            </a:r>
          </a:p>
        </p:txBody>
      </p:sp>
      <p:sp>
        <p:nvSpPr>
          <p:cNvPr id="5" name="Architecture card"/>
          <p:cNvSpPr/>
          <p:nvPr/>
        </p:nvSpPr>
        <p:spPr>
          <a:xfrm>
            <a:off x="838200" y="1610000"/>
            <a:ext cx="2430000" cy="13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Architecture accent"/>
          <p:cNvSpPr/>
          <p:nvPr/>
        </p:nvSpPr>
        <p:spPr>
          <a:xfrm>
            <a:off x="838200" y="1610000"/>
            <a:ext cx="24300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Architecture card"/>
          <p:cNvSpPr/>
          <p:nvPr/>
        </p:nvSpPr>
        <p:spPr>
          <a:xfrm>
            <a:off x="3478200" y="1610000"/>
            <a:ext cx="2430000" cy="13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Architecture accent"/>
          <p:cNvSpPr/>
          <p:nvPr/>
        </p:nvSpPr>
        <p:spPr>
          <a:xfrm>
            <a:off x="3478200" y="1610000"/>
            <a:ext cx="24300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Architecture card"/>
          <p:cNvSpPr/>
          <p:nvPr/>
        </p:nvSpPr>
        <p:spPr>
          <a:xfrm>
            <a:off x="6118200" y="1610000"/>
            <a:ext cx="2430000" cy="13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Architecture accent"/>
          <p:cNvSpPr/>
          <p:nvPr/>
        </p:nvSpPr>
        <p:spPr>
          <a:xfrm>
            <a:off x="6118200" y="1610000"/>
            <a:ext cx="24300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Architecture card"/>
          <p:cNvSpPr/>
          <p:nvPr/>
        </p:nvSpPr>
        <p:spPr>
          <a:xfrm>
            <a:off x="8758200" y="1610000"/>
            <a:ext cx="2430000" cy="13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Architecture accent"/>
          <p:cNvSpPr/>
          <p:nvPr/>
        </p:nvSpPr>
        <p:spPr>
          <a:xfrm>
            <a:off x="8758200" y="1610000"/>
            <a:ext cx="24300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Arch head"/>
          <p:cNvSpPr txBox="1"/>
          <p:nvPr/>
        </p:nvSpPr>
        <p:spPr>
          <a:xfrm>
            <a:off x="968200" y="1880000"/>
            <a:ext cx="217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MethodSpec</a:t>
            </a:r>
          </a:p>
        </p:txBody>
      </p:sp>
      <p:sp>
        <p:nvSpPr>
          <p:cNvPr id="14" name="Arch body"/>
          <p:cNvSpPr txBox="1"/>
          <p:nvPr/>
        </p:nvSpPr>
        <p:spPr>
          <a:xfrm>
            <a:off x="968200" y="2360000"/>
            <a:ext cx="21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what one-step map is being claimed</a:t>
            </a:r>
          </a:p>
        </p:txBody>
      </p:sp>
      <p:sp>
        <p:nvSpPr>
          <p:cNvPr id="15" name="Arch head"/>
          <p:cNvSpPr txBox="1"/>
          <p:nvPr/>
        </p:nvSpPr>
        <p:spPr>
          <a:xfrm>
            <a:off x="3608200" y="1880000"/>
            <a:ext cx="217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ProblemSpec</a:t>
            </a:r>
          </a:p>
        </p:txBody>
      </p:sp>
      <p:sp>
        <p:nvSpPr>
          <p:cNvPr id="16" name="Arch body"/>
          <p:cNvSpPr txBox="1"/>
          <p:nvPr/>
        </p:nvSpPr>
        <p:spPr>
          <a:xfrm>
            <a:off x="3608200" y="2360000"/>
            <a:ext cx="21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which mechanisms and parameters are pinned</a:t>
            </a:r>
          </a:p>
        </p:txBody>
      </p:sp>
      <p:sp>
        <p:nvSpPr>
          <p:cNvPr id="17" name="Arch head"/>
          <p:cNvSpPr txBox="1"/>
          <p:nvPr/>
        </p:nvSpPr>
        <p:spPr>
          <a:xfrm>
            <a:off x="6248200" y="1880000"/>
            <a:ext cx="217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EvidenceSpec</a:t>
            </a:r>
          </a:p>
        </p:txBody>
      </p:sp>
      <p:sp>
        <p:nvSpPr>
          <p:cNvPr id="18" name="Arch body"/>
          <p:cNvSpPr txBox="1"/>
          <p:nvPr/>
        </p:nvSpPr>
        <p:spPr>
          <a:xfrm>
            <a:off x="6248200" y="2360000"/>
            <a:ext cx="21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CSV, JSON, plots, validators</a:t>
            </a:r>
          </a:p>
        </p:txBody>
      </p:sp>
      <p:sp>
        <p:nvSpPr>
          <p:cNvPr id="19" name="Arch head"/>
          <p:cNvSpPr txBox="1"/>
          <p:nvPr/>
        </p:nvSpPr>
        <p:spPr>
          <a:xfrm>
            <a:off x="8888200" y="1880000"/>
            <a:ext cx="217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ClaimSpec</a:t>
            </a:r>
          </a:p>
        </p:txBody>
      </p:sp>
      <p:sp>
        <p:nvSpPr>
          <p:cNvPr id="20" name="Arch body"/>
          <p:cNvSpPr txBox="1"/>
          <p:nvPr/>
        </p:nvSpPr>
        <p:spPr>
          <a:xfrm>
            <a:off x="8888200" y="2360000"/>
            <a:ext cx="21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accepted, diagnostic, open, forbidden</a:t>
            </a:r>
          </a:p>
        </p:txBody>
      </p:sp>
      <p:sp>
        <p:nvSpPr>
          <p:cNvPr id="21" name="Loop label"/>
          <p:cNvSpPr txBox="1"/>
          <p:nvPr/>
        </p:nvSpPr>
        <p:spPr>
          <a:xfrm>
            <a:off x="838200" y="3470000"/>
            <a:ext cx="10515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9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closed loop</a:t>
            </a:r>
          </a:p>
        </p:txBody>
      </p:sp>
      <p:sp>
        <p:nvSpPr>
          <p:cNvPr id="22" name="Loop step"/>
          <p:cNvSpPr txBox="1"/>
          <p:nvPr/>
        </p:nvSpPr>
        <p:spPr>
          <a:xfrm>
            <a:off x="1788200" y="4000000"/>
            <a:ext cx="1200000" cy="4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generate</a:t>
            </a:r>
          </a:p>
        </p:txBody>
      </p:sp>
      <p:sp>
        <p:nvSpPr>
          <p:cNvPr id="23" name="Loop arrow"/>
          <p:cNvSpPr txBox="1"/>
          <p:nvPr/>
        </p:nvSpPr>
        <p:spPr>
          <a:xfrm>
            <a:off x="3068200" y="4090000"/>
            <a:ext cx="16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24" name="Loop step"/>
          <p:cNvSpPr txBox="1"/>
          <p:nvPr/>
        </p:nvSpPr>
        <p:spPr>
          <a:xfrm>
            <a:off x="3608200" y="4000000"/>
            <a:ext cx="1200000" cy="4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sandbox</a:t>
            </a:r>
          </a:p>
        </p:txBody>
      </p:sp>
      <p:sp>
        <p:nvSpPr>
          <p:cNvPr id="25" name="Loop arrow"/>
          <p:cNvSpPr txBox="1"/>
          <p:nvPr/>
        </p:nvSpPr>
        <p:spPr>
          <a:xfrm>
            <a:off x="4888200" y="4090000"/>
            <a:ext cx="16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26" name="Loop step"/>
          <p:cNvSpPr txBox="1"/>
          <p:nvPr/>
        </p:nvSpPr>
        <p:spPr>
          <a:xfrm>
            <a:off x="5428200" y="4000000"/>
            <a:ext cx="1200000" cy="4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prove</a:t>
            </a:r>
          </a:p>
        </p:txBody>
      </p:sp>
      <p:sp>
        <p:nvSpPr>
          <p:cNvPr id="27" name="Loop arrow"/>
          <p:cNvSpPr txBox="1"/>
          <p:nvPr/>
        </p:nvSpPr>
        <p:spPr>
          <a:xfrm>
            <a:off x="6708200" y="4090000"/>
            <a:ext cx="16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28" name="Loop step"/>
          <p:cNvSpPr txBox="1"/>
          <p:nvPr/>
        </p:nvSpPr>
        <p:spPr>
          <a:xfrm>
            <a:off x="7248200" y="4000000"/>
            <a:ext cx="1200000" cy="4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test</a:t>
            </a:r>
          </a:p>
        </p:txBody>
      </p:sp>
      <p:sp>
        <p:nvSpPr>
          <p:cNvPr id="29" name="Loop arrow"/>
          <p:cNvSpPr txBox="1"/>
          <p:nvPr/>
        </p:nvSpPr>
        <p:spPr>
          <a:xfrm>
            <a:off x="8528200" y="4090000"/>
            <a:ext cx="1600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&gt;</a:t>
            </a:r>
          </a:p>
        </p:txBody>
      </p:sp>
      <p:sp>
        <p:nvSpPr>
          <p:cNvPr id="30" name="Loop step"/>
          <p:cNvSpPr txBox="1"/>
          <p:nvPr/>
        </p:nvSpPr>
        <p:spPr>
          <a:xfrm>
            <a:off x="9068200" y="4000000"/>
            <a:ext cx="1200000" cy="40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write</a:t>
            </a:r>
          </a:p>
        </p:txBody>
      </p:sp>
      <p:sp>
        <p:nvSpPr>
          <p:cNvPr id="31" name="Arch note"/>
          <p:cNvSpPr txBox="1"/>
          <p:nvPr/>
        </p:nvSpPr>
        <p:spPr>
          <a:xfrm>
            <a:off x="838200" y="5260000"/>
            <a:ext cx="105156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Human role: choose the research direction; agent role: enforce the gates before claims move.</a:t>
            </a:r>
          </a:p>
        </p:txBody>
      </p:sp>
      <p:sp>
        <p:nvSpPr>
          <p:cNvPr id="3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3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3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Method object: the agent cannot verify a moving target</a:t>
            </a:r>
          </a:p>
        </p:txBody>
      </p:sp>
      <p:sp>
        <p:nvSpPr>
          <p:cNvPr id="5" name="Method notes"/>
          <p:cNvSpPr/>
          <p:nvPr/>
        </p:nvSpPr>
        <p:spPr>
          <a:xfrm>
            <a:off x="838200" y="1520000"/>
            <a:ext cx="3230000" cy="436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Image panel"/>
          <p:cNvSpPr/>
          <p:nvPr/>
        </p:nvSpPr>
        <p:spPr>
          <a:xfrm>
            <a:off x="4398200" y="1520000"/>
            <a:ext cx="6955600" cy="4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For v047"/>
          <p:cNvSpPr txBox="1"/>
          <p:nvPr/>
        </p:nvSpPr>
        <p:spPr>
          <a:xfrm>
            <a:off x="1028200" y="1790000"/>
            <a:ext cx="28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For v047</a:t>
            </a:r>
          </a:p>
        </p:txBody>
      </p:sp>
      <p:sp>
        <p:nvSpPr>
          <p:cNvPr id="8" name="Method bullets"/>
          <p:cNvSpPr txBox="1"/>
          <p:nvPr/>
        </p:nvSpPr>
        <p:spPr>
          <a:xfrm>
            <a:off x="1088200" y="2260000"/>
            <a:ext cx="2720000" cy="2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3 Gauss stages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132 FullVA rows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position, velocity, acceleration constraints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endpoint closure audited separately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solver tolerance is a theorem gate</a:t>
            </a:r>
          </a:p>
        </p:txBody>
      </p:sp>
      <p:sp>
        <p:nvSpPr>
          <p:cNvPr id="9" name="Non claim"/>
          <p:cNvSpPr txBox="1"/>
          <p:nvPr/>
        </p:nvSpPr>
        <p:spPr>
          <a:xfrm>
            <a:off x="1088200" y="4980000"/>
            <a:ext cx="272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Non-claim: full source-paper TFE replacement unless its own residual gate closes.</a:t>
            </a:r>
          </a:p>
        </p:txBody>
      </p:sp>
      <p:sp>
        <p:nvSpPr>
          <p:cNvPr id="10" name="Image caption"/>
          <p:cNvSpPr txBox="1"/>
          <p:nvPr/>
        </p:nvSpPr>
        <p:spPr>
          <a:xfrm>
            <a:off x="4508200" y="5680000"/>
            <a:ext cx="67356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method architecture as verifier target</a:t>
            </a:r>
          </a:p>
        </p:txBody>
      </p:sp>
      <p:pic>
        <p:nvPicPr>
          <p:cNvPr id="11" name="method_stag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905" y="1590000"/>
            <a:ext cx="6656190" cy="3990000"/>
          </a:xfrm>
          <a:prstGeom prst="rect">
            <a:avLst/>
          </a:prstGeom>
        </p:spPr>
      </p:pic>
      <p:sp>
        <p:nvSpPr>
          <p:cNvPr id="1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Verifier sandbox: constrain what the agent can run</a:t>
            </a:r>
          </a:p>
        </p:txBody>
      </p:sp>
      <p:sp>
        <p:nvSpPr>
          <p:cNvPr id="5" name="Sandbox layer"/>
          <p:cNvSpPr/>
          <p:nvPr/>
        </p:nvSpPr>
        <p:spPr>
          <a:xfrm>
            <a:off x="838200" y="1560000"/>
            <a:ext cx="10515600" cy="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Layer accent"/>
          <p:cNvSpPr/>
          <p:nvPr/>
        </p:nvSpPr>
        <p:spPr>
          <a:xfrm>
            <a:off x="838200" y="1560000"/>
            <a:ext cx="100000" cy="6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7" name="Sandbox layer"/>
          <p:cNvSpPr/>
          <p:nvPr/>
        </p:nvSpPr>
        <p:spPr>
          <a:xfrm>
            <a:off x="1258200" y="2340000"/>
            <a:ext cx="9675600" cy="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Layer accent"/>
          <p:cNvSpPr/>
          <p:nvPr/>
        </p:nvSpPr>
        <p:spPr>
          <a:xfrm>
            <a:off x="1258200" y="2340000"/>
            <a:ext cx="100000" cy="62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Sandbox layer"/>
          <p:cNvSpPr/>
          <p:nvPr/>
        </p:nvSpPr>
        <p:spPr>
          <a:xfrm>
            <a:off x="1678200" y="3120000"/>
            <a:ext cx="8835600" cy="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Layer accent"/>
          <p:cNvSpPr/>
          <p:nvPr/>
        </p:nvSpPr>
        <p:spPr>
          <a:xfrm>
            <a:off x="1678200" y="3120000"/>
            <a:ext cx="100000" cy="62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1" name="Sandbox layer"/>
          <p:cNvSpPr/>
          <p:nvPr/>
        </p:nvSpPr>
        <p:spPr>
          <a:xfrm>
            <a:off x="2098200" y="3900000"/>
            <a:ext cx="7995600" cy="6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Layer accent"/>
          <p:cNvSpPr/>
          <p:nvPr/>
        </p:nvSpPr>
        <p:spPr>
          <a:xfrm>
            <a:off x="2098200" y="3900000"/>
            <a:ext cx="100000" cy="62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Sandbox warning"/>
          <p:cNvSpPr/>
          <p:nvPr/>
        </p:nvSpPr>
        <p:spPr>
          <a:xfrm>
            <a:off x="838200" y="5020000"/>
            <a:ext cx="10515600" cy="620000"/>
          </a:xfrm>
          <a:prstGeom prst="rect">
            <a:avLst/>
          </a:prstGeom>
          <a:solidFill>
            <a:srgbClr val="FFF1F1"/>
          </a:solidFill>
          <a:ln w="12700">
            <a:solidFill>
              <a:srgbClr val="C00000"/>
            </a:solidFill>
          </a:ln>
        </p:spPr>
      </p:sp>
      <p:sp>
        <p:nvSpPr>
          <p:cNvPr id="14" name="Level"/>
          <p:cNvSpPr txBox="1"/>
          <p:nvPr/>
        </p:nvSpPr>
        <p:spPr>
          <a:xfrm>
            <a:off x="1048200" y="1660000"/>
            <a:ext cx="62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L0</a:t>
            </a:r>
          </a:p>
        </p:txBody>
      </p:sp>
      <p:sp>
        <p:nvSpPr>
          <p:cNvPr id="15" name="Layer head"/>
          <p:cNvSpPr txBox="1"/>
          <p:nvPr/>
        </p:nvSpPr>
        <p:spPr>
          <a:xfrm>
            <a:off x="1818200" y="1645000"/>
            <a:ext cx="29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read-only validators</a:t>
            </a:r>
          </a:p>
        </p:txBody>
      </p:sp>
      <p:sp>
        <p:nvSpPr>
          <p:cNvPr id="16" name="Layer desc"/>
          <p:cNvSpPr txBox="1"/>
          <p:nvPr/>
        </p:nvSpPr>
        <p:spPr>
          <a:xfrm>
            <a:off x="1818200" y="1920000"/>
            <a:ext cx="93156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paper/package/proof checks</a:t>
            </a:r>
          </a:p>
        </p:txBody>
      </p:sp>
      <p:sp>
        <p:nvSpPr>
          <p:cNvPr id="17" name="Level"/>
          <p:cNvSpPr txBox="1"/>
          <p:nvPr/>
        </p:nvSpPr>
        <p:spPr>
          <a:xfrm>
            <a:off x="1468200" y="2440000"/>
            <a:ext cx="62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L1</a:t>
            </a:r>
          </a:p>
        </p:txBody>
      </p:sp>
      <p:sp>
        <p:nvSpPr>
          <p:cNvPr id="18" name="Layer head"/>
          <p:cNvSpPr txBox="1"/>
          <p:nvPr/>
        </p:nvSpPr>
        <p:spPr>
          <a:xfrm>
            <a:off x="2238200" y="2425000"/>
            <a:ext cx="29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target audit</a:t>
            </a:r>
          </a:p>
        </p:txBody>
      </p:sp>
      <p:sp>
        <p:nvSpPr>
          <p:cNvPr id="19" name="Layer desc"/>
          <p:cNvSpPr txBox="1"/>
          <p:nvPr/>
        </p:nvSpPr>
        <p:spPr>
          <a:xfrm>
            <a:off x="2238200" y="2700000"/>
            <a:ext cx="84756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one bounded hypothesis</a:t>
            </a:r>
          </a:p>
        </p:txBody>
      </p:sp>
      <p:sp>
        <p:nvSpPr>
          <p:cNvPr id="20" name="Level"/>
          <p:cNvSpPr txBox="1"/>
          <p:nvPr/>
        </p:nvSpPr>
        <p:spPr>
          <a:xfrm>
            <a:off x="1888200" y="3220000"/>
            <a:ext cx="62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L2</a:t>
            </a:r>
          </a:p>
        </p:txBody>
      </p:sp>
      <p:sp>
        <p:nvSpPr>
          <p:cNvPr id="21" name="Layer head"/>
          <p:cNvSpPr txBox="1"/>
          <p:nvPr/>
        </p:nvSpPr>
        <p:spPr>
          <a:xfrm>
            <a:off x="2658200" y="3205000"/>
            <a:ext cx="29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 generator</a:t>
            </a:r>
          </a:p>
        </p:txBody>
      </p:sp>
      <p:sp>
        <p:nvSpPr>
          <p:cNvPr id="22" name="Layer desc"/>
          <p:cNvSpPr txBox="1"/>
          <p:nvPr/>
        </p:nvSpPr>
        <p:spPr>
          <a:xfrm>
            <a:off x="2658200" y="3480000"/>
            <a:ext cx="76356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version-wide artifacts</a:t>
            </a:r>
          </a:p>
        </p:txBody>
      </p:sp>
      <p:sp>
        <p:nvSpPr>
          <p:cNvPr id="23" name="Level"/>
          <p:cNvSpPr txBox="1"/>
          <p:nvPr/>
        </p:nvSpPr>
        <p:spPr>
          <a:xfrm>
            <a:off x="2308200" y="4000000"/>
            <a:ext cx="62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L3</a:t>
            </a:r>
          </a:p>
        </p:txBody>
      </p:sp>
      <p:sp>
        <p:nvSpPr>
          <p:cNvPr id="24" name="Layer head"/>
          <p:cNvSpPr txBox="1"/>
          <p:nvPr/>
        </p:nvSpPr>
        <p:spPr>
          <a:xfrm>
            <a:off x="3078200" y="3985000"/>
            <a:ext cx="29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source-policy</a:t>
            </a:r>
          </a:p>
        </p:txBody>
      </p:sp>
      <p:sp>
        <p:nvSpPr>
          <p:cNvPr id="25" name="Layer desc"/>
          <p:cNvSpPr txBox="1"/>
          <p:nvPr/>
        </p:nvSpPr>
        <p:spPr>
          <a:xfrm>
            <a:off x="3078200" y="4260000"/>
            <a:ext cx="6795600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same-test public campaigns, opt-in</a:t>
            </a:r>
          </a:p>
        </p:txBody>
      </p:sp>
      <p:sp>
        <p:nvSpPr>
          <p:cNvPr id="26" name="Sandbox rule"/>
          <p:cNvSpPr txBox="1"/>
          <p:nvPr/>
        </p:nvSpPr>
        <p:spPr>
          <a:xfrm>
            <a:off x="1038200" y="5195000"/>
            <a:ext cx="101156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Promotion rule: outputs move upward only when the lower sandbox cannot answer the claim question.</a:t>
            </a:r>
          </a:p>
        </p:txBody>
      </p:sp>
      <p:sp>
        <p:nvSpPr>
          <p:cNvPr id="2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Proof sandbox: only gated facts enter the theorem</a:t>
            </a:r>
          </a:p>
        </p:txBody>
      </p:sp>
      <p:sp>
        <p:nvSpPr>
          <p:cNvPr id="5" name="Proof obligation"/>
          <p:cNvSpPr/>
          <p:nvPr/>
        </p:nvSpPr>
        <p:spPr>
          <a:xfrm>
            <a:off x="83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Proof accent"/>
          <p:cNvSpPr/>
          <p:nvPr/>
        </p:nvSpPr>
        <p:spPr>
          <a:xfrm>
            <a:off x="838200" y="1520000"/>
            <a:ext cx="1360000" cy="7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Proof obligation"/>
          <p:cNvSpPr/>
          <p:nvPr/>
        </p:nvSpPr>
        <p:spPr>
          <a:xfrm>
            <a:off x="234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Proof accent"/>
          <p:cNvSpPr/>
          <p:nvPr/>
        </p:nvSpPr>
        <p:spPr>
          <a:xfrm>
            <a:off x="2348200" y="1520000"/>
            <a:ext cx="1360000" cy="75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Proof obligation"/>
          <p:cNvSpPr/>
          <p:nvPr/>
        </p:nvSpPr>
        <p:spPr>
          <a:xfrm>
            <a:off x="385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Proof accent"/>
          <p:cNvSpPr/>
          <p:nvPr/>
        </p:nvSpPr>
        <p:spPr>
          <a:xfrm>
            <a:off x="3858200" y="1520000"/>
            <a:ext cx="1360000" cy="7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Proof obligation"/>
          <p:cNvSpPr/>
          <p:nvPr/>
        </p:nvSpPr>
        <p:spPr>
          <a:xfrm>
            <a:off x="536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Proof accent"/>
          <p:cNvSpPr/>
          <p:nvPr/>
        </p:nvSpPr>
        <p:spPr>
          <a:xfrm>
            <a:off x="5368200" y="1520000"/>
            <a:ext cx="1360000" cy="75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Proof obligation"/>
          <p:cNvSpPr/>
          <p:nvPr/>
        </p:nvSpPr>
        <p:spPr>
          <a:xfrm>
            <a:off x="687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4" name="Proof accent"/>
          <p:cNvSpPr/>
          <p:nvPr/>
        </p:nvSpPr>
        <p:spPr>
          <a:xfrm>
            <a:off x="6878200" y="1520000"/>
            <a:ext cx="1360000" cy="75000"/>
          </a:xfrm>
          <a:prstGeom prst="rect">
            <a:avLst/>
          </a:prstGeom>
          <a:solidFill>
            <a:srgbClr val="7A4EA3"/>
          </a:solidFill>
          <a:ln>
            <a:noFill/>
          </a:ln>
        </p:spPr>
      </p:sp>
      <p:sp>
        <p:nvSpPr>
          <p:cNvPr id="15" name="Proof obligation"/>
          <p:cNvSpPr/>
          <p:nvPr/>
        </p:nvSpPr>
        <p:spPr>
          <a:xfrm>
            <a:off x="838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6" name="Proof accent"/>
          <p:cNvSpPr/>
          <p:nvPr/>
        </p:nvSpPr>
        <p:spPr>
          <a:xfrm>
            <a:off x="8388200" y="1520000"/>
            <a:ext cx="1360000" cy="7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7" name="Proof obligation"/>
          <p:cNvSpPr/>
          <p:nvPr/>
        </p:nvSpPr>
        <p:spPr>
          <a:xfrm>
            <a:off x="9898200" y="1520000"/>
            <a:ext cx="136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8" name="Proof accent"/>
          <p:cNvSpPr/>
          <p:nvPr/>
        </p:nvSpPr>
        <p:spPr>
          <a:xfrm>
            <a:off x="9898200" y="1520000"/>
            <a:ext cx="1360000" cy="7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Accepted lane"/>
          <p:cNvSpPr/>
          <p:nvPr/>
        </p:nvSpPr>
        <p:spPr>
          <a:xfrm>
            <a:off x="838200" y="3260000"/>
            <a:ext cx="4980000" cy="1560000"/>
          </a:xfrm>
          <a:prstGeom prst="rect">
            <a:avLst/>
          </a:prstGeom>
          <a:solidFill>
            <a:srgbClr val="EAF4EA"/>
          </a:solidFill>
          <a:ln w="12700">
            <a:solidFill>
              <a:srgbClr val="2E7D32"/>
            </a:solidFill>
          </a:ln>
        </p:spPr>
      </p:sp>
      <p:sp>
        <p:nvSpPr>
          <p:cNvPr id="20" name="Diagnostic lane"/>
          <p:cNvSpPr/>
          <p:nvPr/>
        </p:nvSpPr>
        <p:spPr>
          <a:xfrm>
            <a:off x="6373800" y="3260000"/>
            <a:ext cx="4980000" cy="1560000"/>
          </a:xfrm>
          <a:prstGeom prst="rect">
            <a:avLst/>
          </a:prstGeom>
          <a:solidFill>
            <a:srgbClr val="FFF7E8"/>
          </a:solidFill>
          <a:ln w="12700">
            <a:solidFill>
              <a:srgbClr val="ED7D31"/>
            </a:solidFill>
          </a:ln>
        </p:spPr>
      </p:sp>
      <p:sp>
        <p:nvSpPr>
          <p:cNvPr id="21" name="PID"/>
          <p:cNvSpPr txBox="1"/>
          <p:nvPr/>
        </p:nvSpPr>
        <p:spPr>
          <a:xfrm>
            <a:off x="94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P1</a:t>
            </a:r>
          </a:p>
        </p:txBody>
      </p:sp>
      <p:sp>
        <p:nvSpPr>
          <p:cNvPr id="22" name="Proof head"/>
          <p:cNvSpPr txBox="1"/>
          <p:nvPr/>
        </p:nvSpPr>
        <p:spPr>
          <a:xfrm>
            <a:off x="93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smooth chart</a:t>
            </a:r>
          </a:p>
        </p:txBody>
      </p:sp>
      <p:sp>
        <p:nvSpPr>
          <p:cNvPr id="23" name="PID"/>
          <p:cNvSpPr txBox="1"/>
          <p:nvPr/>
        </p:nvSpPr>
        <p:spPr>
          <a:xfrm>
            <a:off x="245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P2</a:t>
            </a:r>
          </a:p>
        </p:txBody>
      </p:sp>
      <p:sp>
        <p:nvSpPr>
          <p:cNvPr id="24" name="Proof head"/>
          <p:cNvSpPr txBox="1"/>
          <p:nvPr/>
        </p:nvSpPr>
        <p:spPr>
          <a:xfrm>
            <a:off x="244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regular branch</a:t>
            </a:r>
          </a:p>
        </p:txBody>
      </p:sp>
      <p:sp>
        <p:nvSpPr>
          <p:cNvPr id="25" name="PID"/>
          <p:cNvSpPr txBox="1"/>
          <p:nvPr/>
        </p:nvSpPr>
        <p:spPr>
          <a:xfrm>
            <a:off x="396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P3</a:t>
            </a:r>
          </a:p>
        </p:txBody>
      </p:sp>
      <p:sp>
        <p:nvSpPr>
          <p:cNvPr id="26" name="Proof head"/>
          <p:cNvSpPr txBox="1"/>
          <p:nvPr/>
        </p:nvSpPr>
        <p:spPr>
          <a:xfrm>
            <a:off x="395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residual defect O(h^7)</a:t>
            </a:r>
          </a:p>
        </p:txBody>
      </p:sp>
      <p:sp>
        <p:nvSpPr>
          <p:cNvPr id="27" name="PID"/>
          <p:cNvSpPr txBox="1"/>
          <p:nvPr/>
        </p:nvSpPr>
        <p:spPr>
          <a:xfrm>
            <a:off x="547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P4</a:t>
            </a:r>
          </a:p>
        </p:txBody>
      </p:sp>
      <p:sp>
        <p:nvSpPr>
          <p:cNvPr id="28" name="Proof head"/>
          <p:cNvSpPr txBox="1"/>
          <p:nvPr/>
        </p:nvSpPr>
        <p:spPr>
          <a:xfrm>
            <a:off x="546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endpoint perturbation O(h^7)</a:t>
            </a:r>
          </a:p>
        </p:txBody>
      </p:sp>
      <p:sp>
        <p:nvSpPr>
          <p:cNvPr id="29" name="PID"/>
          <p:cNvSpPr txBox="1"/>
          <p:nvPr/>
        </p:nvSpPr>
        <p:spPr>
          <a:xfrm>
            <a:off x="698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7A4EA3"/>
                </a:solidFill>
                <a:latin typeface="Anthropic Sans"/>
                <a:ea typeface="Anthropic Sans"/>
                <a:cs typeface="Anthropic Sans"/>
              </a:rPr>
              <a:t>P5</a:t>
            </a:r>
          </a:p>
        </p:txBody>
      </p:sp>
      <p:sp>
        <p:nvSpPr>
          <p:cNvPr id="30" name="Proof head"/>
          <p:cNvSpPr txBox="1"/>
          <p:nvPr/>
        </p:nvSpPr>
        <p:spPr>
          <a:xfrm>
            <a:off x="697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dynamic rows</a:t>
            </a:r>
          </a:p>
        </p:txBody>
      </p:sp>
      <p:sp>
        <p:nvSpPr>
          <p:cNvPr id="31" name="PID"/>
          <p:cNvSpPr txBox="1"/>
          <p:nvPr/>
        </p:nvSpPr>
        <p:spPr>
          <a:xfrm>
            <a:off x="849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P6</a:t>
            </a:r>
          </a:p>
        </p:txBody>
      </p:sp>
      <p:sp>
        <p:nvSpPr>
          <p:cNvPr id="32" name="Proof head"/>
          <p:cNvSpPr txBox="1"/>
          <p:nvPr/>
        </p:nvSpPr>
        <p:spPr>
          <a:xfrm>
            <a:off x="848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solver scale</a:t>
            </a:r>
          </a:p>
        </p:txBody>
      </p:sp>
      <p:sp>
        <p:nvSpPr>
          <p:cNvPr id="33" name="PID"/>
          <p:cNvSpPr txBox="1"/>
          <p:nvPr/>
        </p:nvSpPr>
        <p:spPr>
          <a:xfrm>
            <a:off x="10008200" y="1730000"/>
            <a:ext cx="114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P7</a:t>
            </a:r>
          </a:p>
        </p:txBody>
      </p:sp>
      <p:sp>
        <p:nvSpPr>
          <p:cNvPr id="34" name="Proof head"/>
          <p:cNvSpPr txBox="1"/>
          <p:nvPr/>
        </p:nvSpPr>
        <p:spPr>
          <a:xfrm>
            <a:off x="9998200" y="2085000"/>
            <a:ext cx="11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residual-to-error</a:t>
            </a:r>
          </a:p>
        </p:txBody>
      </p:sp>
      <p:sp>
        <p:nvSpPr>
          <p:cNvPr id="35" name="Accepted head"/>
          <p:cNvSpPr txBox="1"/>
          <p:nvPr/>
        </p:nvSpPr>
        <p:spPr>
          <a:xfrm>
            <a:off x="1088200" y="3560000"/>
            <a:ext cx="44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Accepted lane</a:t>
            </a:r>
          </a:p>
        </p:txBody>
      </p:sp>
      <p:sp>
        <p:nvSpPr>
          <p:cNvPr id="36" name="Accepted body"/>
          <p:cNvSpPr txBox="1"/>
          <p:nvPr/>
        </p:nvSpPr>
        <p:spPr>
          <a:xfrm>
            <a:off x="1228200" y="3980000"/>
            <a:ext cx="42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direct residual bridge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AD row identity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Newton-Euler substitution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conditional sixth-order claim</a:t>
            </a:r>
          </a:p>
        </p:txBody>
      </p:sp>
      <p:sp>
        <p:nvSpPr>
          <p:cNvPr id="37" name="Diag head"/>
          <p:cNvSpPr txBox="1"/>
          <p:nvPr/>
        </p:nvSpPr>
        <p:spPr>
          <a:xfrm>
            <a:off x="6623800" y="3560000"/>
            <a:ext cx="44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Diagnostic lane</a:t>
            </a:r>
          </a:p>
        </p:txBody>
      </p:sp>
      <p:sp>
        <p:nvSpPr>
          <p:cNvPr id="38" name="Diag body"/>
          <p:cNvSpPr txBox="1"/>
          <p:nvPr/>
        </p:nvSpPr>
        <p:spPr>
          <a:xfrm>
            <a:off x="6763800" y="3980000"/>
            <a:ext cx="42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fixed tolerance logs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primitive Taylor fragments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source-policy rows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3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residual-only mechanism rows</a:t>
            </a:r>
          </a:p>
        </p:txBody>
      </p:sp>
      <p:sp>
        <p:nvSpPr>
          <p:cNvPr id="39" name="Proof note"/>
          <p:cNvSpPr txBox="1"/>
          <p:nvPr/>
        </p:nvSpPr>
        <p:spPr>
          <a:xfrm>
            <a:off x="838200" y="5360000"/>
            <a:ext cx="105156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The ledger tells the agent what not to say.</a:t>
            </a:r>
          </a:p>
        </p:txBody>
      </p:sp>
      <p:sp>
        <p:nvSpPr>
          <p:cNvPr id="40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41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42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Numerical ladder: examples expose different failure modes</a:t>
            </a:r>
          </a:p>
        </p:txBody>
      </p:sp>
      <p:sp>
        <p:nvSpPr>
          <p:cNvPr id="5" name="Numerical rung"/>
          <p:cNvSpPr/>
          <p:nvPr/>
        </p:nvSpPr>
        <p:spPr>
          <a:xfrm>
            <a:off x="1250000" y="1430000"/>
            <a:ext cx="8900000" cy="44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Numerical rung"/>
          <p:cNvSpPr/>
          <p:nvPr/>
        </p:nvSpPr>
        <p:spPr>
          <a:xfrm>
            <a:off x="1770000" y="2050000"/>
            <a:ext cx="8150000" cy="44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Numerical rung"/>
          <p:cNvSpPr/>
          <p:nvPr/>
        </p:nvSpPr>
        <p:spPr>
          <a:xfrm>
            <a:off x="2290000" y="2670000"/>
            <a:ext cx="7400000" cy="44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Numerical rung"/>
          <p:cNvSpPr/>
          <p:nvPr/>
        </p:nvSpPr>
        <p:spPr>
          <a:xfrm>
            <a:off x="2810000" y="3290000"/>
            <a:ext cx="6650000" cy="44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Numerical rung"/>
          <p:cNvSpPr/>
          <p:nvPr/>
        </p:nvSpPr>
        <p:spPr>
          <a:xfrm>
            <a:off x="3330000" y="3910000"/>
            <a:ext cx="5900000" cy="44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Numerical rung"/>
          <p:cNvSpPr/>
          <p:nvPr/>
        </p:nvSpPr>
        <p:spPr>
          <a:xfrm>
            <a:off x="3850000" y="4530000"/>
            <a:ext cx="5150000" cy="44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1" name="Rung num"/>
          <p:cNvSpPr txBox="1"/>
          <p:nvPr/>
        </p:nvSpPr>
        <p:spPr>
          <a:xfrm>
            <a:off x="1365000" y="1502000"/>
            <a:ext cx="300000" cy="2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6</a:t>
            </a:r>
          </a:p>
        </p:txBody>
      </p:sp>
      <p:sp>
        <p:nvSpPr>
          <p:cNvPr id="12" name="Rung label"/>
          <p:cNvSpPr txBox="1"/>
          <p:nvPr/>
        </p:nvSpPr>
        <p:spPr>
          <a:xfrm>
            <a:off x="1810000" y="1525000"/>
            <a:ext cx="8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same-test</a:t>
            </a:r>
          </a:p>
        </p:txBody>
      </p:sp>
      <p:sp>
        <p:nvSpPr>
          <p:cNvPr id="13" name="Rung num"/>
          <p:cNvSpPr txBox="1"/>
          <p:nvPr/>
        </p:nvSpPr>
        <p:spPr>
          <a:xfrm>
            <a:off x="1885000" y="2122000"/>
            <a:ext cx="300000" cy="2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  <p:sp>
        <p:nvSpPr>
          <p:cNvPr id="14" name="Rung label"/>
          <p:cNvSpPr txBox="1"/>
          <p:nvPr/>
        </p:nvSpPr>
        <p:spPr>
          <a:xfrm>
            <a:off x="2330000" y="2145000"/>
            <a:ext cx="745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ASME mechanisms</a:t>
            </a:r>
          </a:p>
        </p:txBody>
      </p:sp>
      <p:sp>
        <p:nvSpPr>
          <p:cNvPr id="15" name="Rung num"/>
          <p:cNvSpPr txBox="1"/>
          <p:nvPr/>
        </p:nvSpPr>
        <p:spPr>
          <a:xfrm>
            <a:off x="2405000" y="2742000"/>
            <a:ext cx="300000" cy="2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  <p:sp>
        <p:nvSpPr>
          <p:cNvPr id="16" name="Rung label"/>
          <p:cNvSpPr txBox="1"/>
          <p:nvPr/>
        </p:nvSpPr>
        <p:spPr>
          <a:xfrm>
            <a:off x="2850000" y="2765000"/>
            <a:ext cx="67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friction regimes</a:t>
            </a:r>
          </a:p>
        </p:txBody>
      </p:sp>
      <p:sp>
        <p:nvSpPr>
          <p:cNvPr id="17" name="Rung num"/>
          <p:cNvSpPr txBox="1"/>
          <p:nvPr/>
        </p:nvSpPr>
        <p:spPr>
          <a:xfrm>
            <a:off x="2925000" y="3362000"/>
            <a:ext cx="300000" cy="2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  <p:sp>
        <p:nvSpPr>
          <p:cNvPr id="18" name="Rung label"/>
          <p:cNvSpPr txBox="1"/>
          <p:nvPr/>
        </p:nvSpPr>
        <p:spPr>
          <a:xfrm>
            <a:off x="3370000" y="3385000"/>
            <a:ext cx="595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constrained DAE</a:t>
            </a:r>
          </a:p>
        </p:txBody>
      </p:sp>
      <p:sp>
        <p:nvSpPr>
          <p:cNvPr id="19" name="Rung num"/>
          <p:cNvSpPr txBox="1"/>
          <p:nvPr/>
        </p:nvSpPr>
        <p:spPr>
          <a:xfrm>
            <a:off x="3445000" y="3982000"/>
            <a:ext cx="300000" cy="260000"/>
          </a:xfrm>
          <a:prstGeom prst="rect">
            <a:avLst/>
          </a:prstGeom>
          <a:solidFill>
            <a:srgbClr val="7A4EA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20" name="Rung label"/>
          <p:cNvSpPr txBox="1"/>
          <p:nvPr/>
        </p:nvSpPr>
        <p:spPr>
          <a:xfrm>
            <a:off x="3890000" y="4005000"/>
            <a:ext cx="5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smooth mechanics</a:t>
            </a:r>
          </a:p>
        </p:txBody>
      </p:sp>
      <p:sp>
        <p:nvSpPr>
          <p:cNvPr id="21" name="Rung num"/>
          <p:cNvSpPr txBox="1"/>
          <p:nvPr/>
        </p:nvSpPr>
        <p:spPr>
          <a:xfrm>
            <a:off x="3965000" y="4602000"/>
            <a:ext cx="300000" cy="26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1</a:t>
            </a:r>
          </a:p>
        </p:txBody>
      </p:sp>
      <p:sp>
        <p:nvSpPr>
          <p:cNvPr id="22" name="Rung label"/>
          <p:cNvSpPr txBox="1"/>
          <p:nvPr/>
        </p:nvSpPr>
        <p:spPr>
          <a:xfrm>
            <a:off x="4410000" y="4625000"/>
            <a:ext cx="445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SO(3) kinematics</a:t>
            </a:r>
          </a:p>
        </p:txBody>
      </p:sp>
      <p:sp>
        <p:nvSpPr>
          <p:cNvPr id="23" name="Ladder note"/>
          <p:cNvSpPr txBox="1"/>
          <p:nvPr/>
        </p:nvSpPr>
        <p:spPr>
          <a:xfrm>
            <a:off x="838200" y="5540000"/>
            <a:ext cx="105156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Acceptance evidence: at least three h values, pinned reference policy, CSV/JSON/plot trail, and claim role.</a:t>
            </a:r>
          </a:p>
        </p:txBody>
      </p:sp>
      <p:sp>
        <p:nvSpPr>
          <p:cNvPr id="2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Case evidence: smooth order verifier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360000"/>
            <a:ext cx="6760000" cy="4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Evidence notes"/>
          <p:cNvSpPr/>
          <p:nvPr/>
        </p:nvSpPr>
        <p:spPr>
          <a:xfrm>
            <a:off x="7928200" y="1520000"/>
            <a:ext cx="3425600" cy="39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Image caption"/>
          <p:cNvSpPr txBox="1"/>
          <p:nvPr/>
        </p:nvSpPr>
        <p:spPr>
          <a:xfrm>
            <a:off x="948200" y="5720000"/>
            <a:ext cx="654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v047 smooth cylindrical-chain convergence</a:t>
            </a:r>
          </a:p>
        </p:txBody>
      </p:sp>
      <p:sp>
        <p:nvSpPr>
          <p:cNvPr id="8" name="Evidence head"/>
          <p:cNvSpPr txBox="1"/>
          <p:nvPr/>
        </p:nvSpPr>
        <p:spPr>
          <a:xfrm>
            <a:off x="8168200" y="1800000"/>
            <a:ext cx="2945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Accepted local method claim</a:t>
            </a:r>
          </a:p>
        </p:txBody>
      </p:sp>
      <p:sp>
        <p:nvSpPr>
          <p:cNvPr id="9" name="Evidence body"/>
          <p:cNvSpPr txBox="1"/>
          <p:nvPr/>
        </p:nvSpPr>
        <p:spPr>
          <a:xfrm>
            <a:off x="8228200" y="2300000"/>
            <a:ext cx="28256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Gauss6 / FullVA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conditional sixth-order path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observed slopes about 7.16 / 7.07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not an external superiority claim</a:t>
            </a:r>
          </a:p>
        </p:txBody>
      </p:sp>
      <p:sp>
        <p:nvSpPr>
          <p:cNvPr id="10" name="Boundary"/>
          <p:cNvSpPr txBox="1"/>
          <p:nvPr/>
        </p:nvSpPr>
        <p:spPr>
          <a:xfrm>
            <a:off x="8228200" y="4570000"/>
            <a:ext cx="28256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The agent must preserve this boundary exactly.</a:t>
            </a:r>
          </a:p>
        </p:txBody>
      </p:sp>
      <p:pic>
        <p:nvPicPr>
          <p:cNvPr id="11" name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89" y="1430000"/>
            <a:ext cx="5239822" cy="4190000"/>
          </a:xfrm>
          <a:prstGeom prst="rect">
            <a:avLst/>
          </a:prstGeom>
        </p:spPr>
      </p:pic>
      <p:sp>
        <p:nvSpPr>
          <p:cNvPr id="1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Mechanism verifier: ASME lower-pair examples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430000"/>
            <a:ext cx="4980000" cy="4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Image panel"/>
          <p:cNvSpPr/>
          <p:nvPr/>
        </p:nvSpPr>
        <p:spPr>
          <a:xfrm>
            <a:off x="6158200" y="1430000"/>
            <a:ext cx="5195600" cy="20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Image panel"/>
          <p:cNvSpPr/>
          <p:nvPr/>
        </p:nvSpPr>
        <p:spPr>
          <a:xfrm>
            <a:off x="6158200" y="3680000"/>
            <a:ext cx="5195600" cy="20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8" name="Image caption"/>
          <p:cNvSpPr txBox="1"/>
          <p:nvPr/>
        </p:nvSpPr>
        <p:spPr>
          <a:xfrm>
            <a:off x="948200" y="5490000"/>
            <a:ext cx="476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lower-pair graph bridge</a:t>
            </a:r>
          </a:p>
        </p:txBody>
      </p:sp>
      <p:sp>
        <p:nvSpPr>
          <p:cNvPr id="9" name="Image caption"/>
          <p:cNvSpPr txBox="1"/>
          <p:nvPr/>
        </p:nvSpPr>
        <p:spPr>
          <a:xfrm>
            <a:off x="6268200" y="3240000"/>
            <a:ext cx="49756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closed-loop kinematic FullVA</a:t>
            </a:r>
          </a:p>
        </p:txBody>
      </p:sp>
      <p:sp>
        <p:nvSpPr>
          <p:cNvPr id="10" name="Image caption"/>
          <p:cNvSpPr txBox="1"/>
          <p:nvPr/>
        </p:nvSpPr>
        <p:spPr>
          <a:xfrm>
            <a:off x="6268200" y="5490000"/>
            <a:ext cx="49756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dynamic-order staging</a:t>
            </a:r>
          </a:p>
        </p:txBody>
      </p:sp>
      <p:pic>
        <p:nvPicPr>
          <p:cNvPr id="11" name="asme_lower_pair_graph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55" y="1500000"/>
            <a:ext cx="4484889" cy="3890000"/>
          </a:xfrm>
          <a:prstGeom prst="rect">
            <a:avLst/>
          </a:prstGeom>
        </p:spPr>
      </p:pic>
      <p:pic>
        <p:nvPicPr>
          <p:cNvPr id="12" name="asme_closed_loop_kinematic_full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381" y="1500000"/>
            <a:ext cx="4295238" cy="1640000"/>
          </a:xfrm>
          <a:prstGeom prst="rect">
            <a:avLst/>
          </a:prstGeom>
        </p:spPr>
      </p:pic>
      <p:pic>
        <p:nvPicPr>
          <p:cNvPr id="13" name="closed_loop_true_dynamic_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909" y="3750000"/>
            <a:ext cx="2158181" cy="1640000"/>
          </a:xfrm>
          <a:prstGeom prst="rect">
            <a:avLst/>
          </a:prstGeom>
        </p:spPr>
      </p:pic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Endpoint closure is its own sandbox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500000"/>
            <a:ext cx="10515600" cy="2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Endpoint warning"/>
          <p:cNvSpPr/>
          <p:nvPr/>
        </p:nvSpPr>
        <p:spPr>
          <a:xfrm>
            <a:off x="838200" y="4230000"/>
            <a:ext cx="10515600" cy="980000"/>
          </a:xfrm>
          <a:prstGeom prst="rect">
            <a:avLst/>
          </a:prstGeom>
          <a:solidFill>
            <a:srgbClr val="FFF7E8"/>
          </a:solidFill>
          <a:ln w="12700">
            <a:solidFill>
              <a:srgbClr val="ED7D31"/>
            </a:solidFill>
          </a:ln>
        </p:spPr>
      </p:sp>
      <p:sp>
        <p:nvSpPr>
          <p:cNvPr id="7" name="Image caption"/>
          <p:cNvSpPr txBox="1"/>
          <p:nvPr/>
        </p:nvSpPr>
        <p:spPr>
          <a:xfrm>
            <a:off x="948200" y="3660000"/>
            <a:ext cx="102956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raw residual, projection baseline, and KKT closure must stay separated</a:t>
            </a:r>
          </a:p>
        </p:txBody>
      </p:sp>
      <p:sp>
        <p:nvSpPr>
          <p:cNvPr id="8" name="Endpoint head"/>
          <p:cNvSpPr txBox="1"/>
          <p:nvPr/>
        </p:nvSpPr>
        <p:spPr>
          <a:xfrm>
            <a:off x="1098200" y="443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Why it matters</a:t>
            </a:r>
          </a:p>
        </p:txBody>
      </p:sp>
      <p:sp>
        <p:nvSpPr>
          <p:cNvPr id="9" name="Endpoint text"/>
          <p:cNvSpPr txBox="1"/>
          <p:nvPr/>
        </p:nvSpPr>
        <p:spPr>
          <a:xfrm>
            <a:off x="3168200" y="4455000"/>
            <a:ext cx="77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projection can make constraints look clean while changing the one-step map. The agent cannot hide that inside an order claim.</a:t>
            </a:r>
          </a:p>
        </p:txBody>
      </p:sp>
      <p:pic>
        <p:nvPicPr>
          <p:cNvPr id="10" name="endpoint_kkt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000" y="1570000"/>
            <a:ext cx="5174000" cy="1989999"/>
          </a:xfrm>
          <a:prstGeom prst="rect">
            <a:avLst/>
          </a:prstGeom>
        </p:spPr>
      </p:pic>
      <p:sp>
        <p:nvSpPr>
          <p:cNvPr id="11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Caveats are first-class evidence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430000"/>
            <a:ext cx="5060000" cy="2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Image panel"/>
          <p:cNvSpPr/>
          <p:nvPr/>
        </p:nvSpPr>
        <p:spPr>
          <a:xfrm>
            <a:off x="6293800" y="1430000"/>
            <a:ext cx="5060000" cy="2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Caveat note"/>
          <p:cNvSpPr/>
          <p:nvPr/>
        </p:nvSpPr>
        <p:spPr>
          <a:xfrm>
            <a:off x="838200" y="4300000"/>
            <a:ext cx="10515600" cy="82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Image caption"/>
          <p:cNvSpPr txBox="1"/>
          <p:nvPr/>
        </p:nvSpPr>
        <p:spPr>
          <a:xfrm>
            <a:off x="948200" y="3680000"/>
            <a:ext cx="484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friction smoothness boundary</a:t>
            </a:r>
          </a:p>
        </p:txBody>
      </p:sp>
      <p:sp>
        <p:nvSpPr>
          <p:cNvPr id="9" name="Image caption"/>
          <p:cNvSpPr txBox="1"/>
          <p:nvPr/>
        </p:nvSpPr>
        <p:spPr>
          <a:xfrm>
            <a:off x="6403800" y="3680000"/>
            <a:ext cx="484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sparse correctness vs sparse speed</a:t>
            </a:r>
          </a:p>
        </p:txBody>
      </p:sp>
      <p:sp>
        <p:nvSpPr>
          <p:cNvPr id="10" name="Caveat head"/>
          <p:cNvSpPr txBox="1"/>
          <p:nvPr/>
        </p:nvSpPr>
        <p:spPr>
          <a:xfrm>
            <a:off x="1088200" y="4530000"/>
            <a:ext cx="21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Agent behavior</a:t>
            </a:r>
          </a:p>
        </p:txBody>
      </p:sp>
      <p:sp>
        <p:nvSpPr>
          <p:cNvPr id="11" name="Caveat body"/>
          <p:cNvSpPr txBox="1"/>
          <p:nvPr/>
        </p:nvSpPr>
        <p:spPr>
          <a:xfrm>
            <a:off x="3188200" y="4545000"/>
            <a:ext cx="78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Do not delete caveats. Promote smooth-order evidence, demote sharp-friction and runtime caveats to their correct claim lanes.</a:t>
            </a:r>
          </a:p>
        </p:txBody>
      </p:sp>
      <p:pic>
        <p:nvPicPr>
          <p:cNvPr id="12" name="friction_smoothnes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00" y="1611698"/>
            <a:ext cx="4920000" cy="1856603"/>
          </a:xfrm>
          <a:prstGeom prst="rect">
            <a:avLst/>
          </a:prstGeom>
        </p:spPr>
      </p:pic>
      <p:pic>
        <p:nvPicPr>
          <p:cNvPr id="13" name="sparse_speed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800" y="1628889"/>
            <a:ext cx="4920000" cy="1822222"/>
          </a:xfrm>
          <a:prstGeom prst="rect">
            <a:avLst/>
          </a:prstGeom>
        </p:spPr>
      </p:pic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Search strategy: negative results guide the next verifier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430000"/>
            <a:ext cx="10515600" cy="2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Image panel"/>
          <p:cNvSpPr/>
          <p:nvPr/>
        </p:nvSpPr>
        <p:spPr>
          <a:xfrm>
            <a:off x="838200" y="3740000"/>
            <a:ext cx="10515600" cy="20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Image caption"/>
          <p:cNvSpPr txBox="1"/>
          <p:nvPr/>
        </p:nvSpPr>
        <p:spPr>
          <a:xfrm>
            <a:off x="948200" y="3270000"/>
            <a:ext cx="102956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order and terminal closure do not automatically intersect</a:t>
            </a:r>
          </a:p>
        </p:txBody>
      </p:sp>
      <p:sp>
        <p:nvSpPr>
          <p:cNvPr id="8" name="Image caption"/>
          <p:cNvSpPr txBox="1"/>
          <p:nvPr/>
        </p:nvSpPr>
        <p:spPr>
          <a:xfrm>
            <a:off x="948200" y="5560000"/>
            <a:ext cx="102956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velocity-compression probes prune rows that miss the required span</a:t>
            </a:r>
          </a:p>
        </p:txBody>
      </p:sp>
      <p:pic>
        <p:nvPicPr>
          <p:cNvPr id="9" name="order_closure_bl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10" y="1500000"/>
            <a:ext cx="6282380" cy="1670000"/>
          </a:xfrm>
          <a:prstGeom prst="rect">
            <a:avLst/>
          </a:prstGeom>
        </p:spPr>
      </p:pic>
      <p:pic>
        <p:nvPicPr>
          <p:cNvPr id="10" name="velocity_com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183" y="3810000"/>
            <a:ext cx="5925634" cy="1650000"/>
          </a:xfrm>
          <a:prstGeom prst="rect">
            <a:avLst/>
          </a:prstGeom>
        </p:spPr>
      </p:pic>
      <p:sp>
        <p:nvSpPr>
          <p:cNvPr id="11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comparison remains bounded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430000"/>
            <a:ext cx="506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Image panel"/>
          <p:cNvSpPr/>
          <p:nvPr/>
        </p:nvSpPr>
        <p:spPr>
          <a:xfrm>
            <a:off x="6293800" y="1430000"/>
            <a:ext cx="506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7" name="External boundary"/>
          <p:cNvSpPr/>
          <p:nvPr/>
        </p:nvSpPr>
        <p:spPr>
          <a:xfrm>
            <a:off x="838200" y="4280000"/>
            <a:ext cx="10515600" cy="910000"/>
          </a:xfrm>
          <a:prstGeom prst="rect">
            <a:avLst/>
          </a:prstGeom>
          <a:solidFill>
            <a:srgbClr val="FFF1F1"/>
          </a:solidFill>
          <a:ln w="12700">
            <a:solidFill>
              <a:srgbClr val="C00000"/>
            </a:solidFill>
          </a:ln>
        </p:spPr>
      </p:sp>
      <p:sp>
        <p:nvSpPr>
          <p:cNvPr id="8" name="Image caption"/>
          <p:cNvSpPr txBox="1"/>
          <p:nvPr/>
        </p:nvSpPr>
        <p:spPr>
          <a:xfrm>
            <a:off x="948200" y="3650000"/>
            <a:ext cx="484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common-reference work/precision</a:t>
            </a:r>
          </a:p>
        </p:txBody>
      </p:sp>
      <p:sp>
        <p:nvSpPr>
          <p:cNvPr id="9" name="Image caption"/>
          <p:cNvSpPr txBox="1"/>
          <p:nvPr/>
        </p:nvSpPr>
        <p:spPr>
          <a:xfrm>
            <a:off x="6403800" y="3650000"/>
            <a:ext cx="484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literal TFE algorithm diagnostics</a:t>
            </a:r>
          </a:p>
        </p:txBody>
      </p:sp>
      <p:sp>
        <p:nvSpPr>
          <p:cNvPr id="10" name="Boundary head"/>
          <p:cNvSpPr txBox="1"/>
          <p:nvPr/>
        </p:nvSpPr>
        <p:spPr>
          <a:xfrm>
            <a:off x="1088200" y="4520000"/>
            <a:ext cx="18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Boundary</a:t>
            </a:r>
          </a:p>
        </p:txBody>
      </p:sp>
      <p:sp>
        <p:nvSpPr>
          <p:cNvPr id="11" name="Boundary body"/>
          <p:cNvSpPr txBox="1"/>
          <p:nvPr/>
        </p:nvSpPr>
        <p:spPr>
          <a:xfrm>
            <a:off x="2888200" y="4535000"/>
            <a:ext cx="8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v048 provides same-test scaffolds, but source-policy external superiority remains false until the strict public campaigns close.</a:t>
            </a:r>
          </a:p>
        </p:txBody>
      </p:sp>
      <p:pic>
        <p:nvPicPr>
          <p:cNvPr id="12" name="strict_common_reference_work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79" y="1500000"/>
            <a:ext cx="4792242" cy="2050000"/>
          </a:xfrm>
          <a:prstGeom prst="rect">
            <a:avLst/>
          </a:prstGeom>
        </p:spPr>
      </p:pic>
      <p:pic>
        <p:nvPicPr>
          <p:cNvPr id="13" name="tfe_algorithm_literal_work_pr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911" y="1500000"/>
            <a:ext cx="4779778" cy="2050000"/>
          </a:xfrm>
          <a:prstGeom prst="rect">
            <a:avLst/>
          </a:prstGeom>
        </p:spPr>
      </p:pic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 state machine</a:t>
            </a:r>
          </a:p>
        </p:txBody>
      </p:sp>
      <p:sp>
        <p:nvSpPr>
          <p:cNvPr id="5" name="Image panel"/>
          <p:cNvSpPr/>
          <p:nvPr/>
        </p:nvSpPr>
        <p:spPr>
          <a:xfrm>
            <a:off x="838200" y="1360000"/>
            <a:ext cx="6550000" cy="4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6" name="Image caption"/>
          <p:cNvSpPr txBox="1"/>
          <p:nvPr/>
        </p:nvSpPr>
        <p:spPr>
          <a:xfrm>
            <a:off x="948200" y="5580000"/>
            <a:ext cx="6330000" cy="1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accepted, diagnostic, and open boundaries in one frame</a:t>
            </a:r>
          </a:p>
        </p:txBody>
      </p:sp>
      <p:sp>
        <p:nvSpPr>
          <p:cNvPr id="7" name="State"/>
          <p:cNvSpPr txBox="1"/>
          <p:nvPr/>
        </p:nvSpPr>
        <p:spPr>
          <a:xfrm>
            <a:off x="7758200" y="1600000"/>
            <a:ext cx="3400000" cy="36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hypothesis</a:t>
            </a:r>
          </a:p>
        </p:txBody>
      </p:sp>
      <p:sp>
        <p:nvSpPr>
          <p:cNvPr id="8" name="State"/>
          <p:cNvSpPr txBox="1"/>
          <p:nvPr/>
        </p:nvSpPr>
        <p:spPr>
          <a:xfrm>
            <a:off x="7758200" y="2250000"/>
            <a:ext cx="3400000" cy="3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diagnostic</a:t>
            </a:r>
          </a:p>
        </p:txBody>
      </p:sp>
      <p:sp>
        <p:nvSpPr>
          <p:cNvPr id="9" name="State"/>
          <p:cNvSpPr txBox="1"/>
          <p:nvPr/>
        </p:nvSpPr>
        <p:spPr>
          <a:xfrm>
            <a:off x="7758200" y="2900000"/>
            <a:ext cx="3400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accepted</a:t>
            </a:r>
          </a:p>
        </p:txBody>
      </p:sp>
      <p:sp>
        <p:nvSpPr>
          <p:cNvPr id="10" name="State"/>
          <p:cNvSpPr txBox="1"/>
          <p:nvPr/>
        </p:nvSpPr>
        <p:spPr>
          <a:xfrm>
            <a:off x="7758200" y="3550000"/>
            <a:ext cx="3400000" cy="3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open</a:t>
            </a:r>
          </a:p>
        </p:txBody>
      </p:sp>
      <p:sp>
        <p:nvSpPr>
          <p:cNvPr id="11" name="State"/>
          <p:cNvSpPr txBox="1"/>
          <p:nvPr/>
        </p:nvSpPr>
        <p:spPr>
          <a:xfrm>
            <a:off x="7758200" y="4200000"/>
            <a:ext cx="340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forbidden</a:t>
            </a:r>
          </a:p>
        </p:txBody>
      </p:sp>
      <p:sp>
        <p:nvSpPr>
          <p:cNvPr id="12" name="Claim note"/>
          <p:cNvSpPr txBox="1"/>
          <p:nvPr/>
        </p:nvSpPr>
        <p:spPr>
          <a:xfrm>
            <a:off x="7758200" y="5080000"/>
            <a:ext cx="34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3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claim can move backward when a validator exposes stale prose or unfair policy.</a:t>
            </a:r>
          </a:p>
        </p:txBody>
      </p:sp>
      <p:pic>
        <p:nvPicPr>
          <p:cNvPr id="13" name="claim_boundary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030" y="1430000"/>
            <a:ext cx="5134340" cy="4050000"/>
          </a:xfrm>
          <a:prstGeom prst="rect">
            <a:avLst/>
          </a:prstGeom>
        </p:spPr>
      </p:pic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How to build this agent for our integrator work</a:t>
            </a:r>
          </a:p>
        </p:txBody>
      </p:sp>
      <p:sp>
        <p:nvSpPr>
          <p:cNvPr id="5" name="Recipe box"/>
          <p:cNvSpPr/>
          <p:nvPr/>
        </p:nvSpPr>
        <p:spPr>
          <a:xfrm>
            <a:off x="838200" y="1520000"/>
            <a:ext cx="322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Recipe box"/>
          <p:cNvSpPr/>
          <p:nvPr/>
        </p:nvSpPr>
        <p:spPr>
          <a:xfrm>
            <a:off x="4488200" y="1520000"/>
            <a:ext cx="322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Recipe box"/>
          <p:cNvSpPr/>
          <p:nvPr/>
        </p:nvSpPr>
        <p:spPr>
          <a:xfrm>
            <a:off x="8138200" y="1520000"/>
            <a:ext cx="322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Recipe box"/>
          <p:cNvSpPr/>
          <p:nvPr/>
        </p:nvSpPr>
        <p:spPr>
          <a:xfrm>
            <a:off x="838200" y="3170000"/>
            <a:ext cx="322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Recipe box"/>
          <p:cNvSpPr/>
          <p:nvPr/>
        </p:nvSpPr>
        <p:spPr>
          <a:xfrm>
            <a:off x="4488200" y="3170000"/>
            <a:ext cx="322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Recipe box"/>
          <p:cNvSpPr/>
          <p:nvPr/>
        </p:nvSpPr>
        <p:spPr>
          <a:xfrm>
            <a:off x="8138200" y="3170000"/>
            <a:ext cx="3220000" cy="108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1" name="Recipe takeaway"/>
          <p:cNvSpPr/>
          <p:nvPr/>
        </p:nvSpPr>
        <p:spPr>
          <a:xfrm>
            <a:off x="838200" y="5130000"/>
            <a:ext cx="10515600" cy="620000"/>
          </a:xfrm>
          <a:prstGeom prst="rect">
            <a:avLst/>
          </a:prstGeom>
          <a:solidFill>
            <a:srgbClr val="EAF4EA"/>
          </a:solidFill>
          <a:ln w="12700">
            <a:solidFill>
              <a:srgbClr val="2E7D32"/>
            </a:solidFill>
          </a:ln>
        </p:spPr>
      </p:sp>
      <p:sp>
        <p:nvSpPr>
          <p:cNvPr id="12" name="Step num"/>
          <p:cNvSpPr txBox="1"/>
          <p:nvPr/>
        </p:nvSpPr>
        <p:spPr>
          <a:xfrm>
            <a:off x="1008200" y="1750000"/>
            <a:ext cx="36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1</a:t>
            </a:r>
          </a:p>
        </p:txBody>
      </p:sp>
      <p:sp>
        <p:nvSpPr>
          <p:cNvPr id="13" name="Recipe head"/>
          <p:cNvSpPr txBox="1"/>
          <p:nvPr/>
        </p:nvSpPr>
        <p:spPr>
          <a:xfrm>
            <a:off x="1498200" y="1805000"/>
            <a:ext cx="23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encode MethodSpec</a:t>
            </a:r>
          </a:p>
        </p:txBody>
      </p:sp>
      <p:sp>
        <p:nvSpPr>
          <p:cNvPr id="14" name="Step num"/>
          <p:cNvSpPr txBox="1"/>
          <p:nvPr/>
        </p:nvSpPr>
        <p:spPr>
          <a:xfrm>
            <a:off x="4658200" y="1750000"/>
            <a:ext cx="360000" cy="3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15" name="Recipe head"/>
          <p:cNvSpPr txBox="1"/>
          <p:nvPr/>
        </p:nvSpPr>
        <p:spPr>
          <a:xfrm>
            <a:off x="5148200" y="1805000"/>
            <a:ext cx="23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pin ProblemSpec</a:t>
            </a:r>
          </a:p>
        </p:txBody>
      </p:sp>
      <p:sp>
        <p:nvSpPr>
          <p:cNvPr id="16" name="Step num"/>
          <p:cNvSpPr txBox="1"/>
          <p:nvPr/>
        </p:nvSpPr>
        <p:spPr>
          <a:xfrm>
            <a:off x="8308200" y="1750000"/>
            <a:ext cx="360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  <p:sp>
        <p:nvSpPr>
          <p:cNvPr id="17" name="Recipe head"/>
          <p:cNvSpPr txBox="1"/>
          <p:nvPr/>
        </p:nvSpPr>
        <p:spPr>
          <a:xfrm>
            <a:off x="8798200" y="1805000"/>
            <a:ext cx="23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choose sandbox level</a:t>
            </a:r>
          </a:p>
        </p:txBody>
      </p:sp>
      <p:sp>
        <p:nvSpPr>
          <p:cNvPr id="18" name="Step num"/>
          <p:cNvSpPr txBox="1"/>
          <p:nvPr/>
        </p:nvSpPr>
        <p:spPr>
          <a:xfrm>
            <a:off x="1008200" y="3400000"/>
            <a:ext cx="360000" cy="3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  <p:sp>
        <p:nvSpPr>
          <p:cNvPr id="19" name="Recipe head"/>
          <p:cNvSpPr txBox="1"/>
          <p:nvPr/>
        </p:nvSpPr>
        <p:spPr>
          <a:xfrm>
            <a:off x="1498200" y="3455000"/>
            <a:ext cx="23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run numerical ladder</a:t>
            </a:r>
          </a:p>
        </p:txBody>
      </p:sp>
      <p:sp>
        <p:nvSpPr>
          <p:cNvPr id="20" name="Step num"/>
          <p:cNvSpPr txBox="1"/>
          <p:nvPr/>
        </p:nvSpPr>
        <p:spPr>
          <a:xfrm>
            <a:off x="4658200" y="3400000"/>
            <a:ext cx="360000" cy="36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  <p:sp>
        <p:nvSpPr>
          <p:cNvPr id="21" name="Recipe head"/>
          <p:cNvSpPr txBox="1"/>
          <p:nvPr/>
        </p:nvSpPr>
        <p:spPr>
          <a:xfrm>
            <a:off x="5148200" y="3455000"/>
            <a:ext cx="23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update proof ledger</a:t>
            </a:r>
          </a:p>
        </p:txBody>
      </p:sp>
      <p:sp>
        <p:nvSpPr>
          <p:cNvPr id="22" name="Step num"/>
          <p:cNvSpPr txBox="1"/>
          <p:nvPr/>
        </p:nvSpPr>
        <p:spPr>
          <a:xfrm>
            <a:off x="8308200" y="3400000"/>
            <a:ext cx="36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6</a:t>
            </a:r>
          </a:p>
        </p:txBody>
      </p:sp>
      <p:sp>
        <p:nvSpPr>
          <p:cNvPr id="23" name="Recipe head"/>
          <p:cNvSpPr txBox="1"/>
          <p:nvPr/>
        </p:nvSpPr>
        <p:spPr>
          <a:xfrm>
            <a:off x="8798200" y="3455000"/>
            <a:ext cx="23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gate paper claims</a:t>
            </a:r>
          </a:p>
        </p:txBody>
      </p:sp>
      <p:sp>
        <p:nvSpPr>
          <p:cNvPr id="24" name="Recipe note"/>
          <p:cNvSpPr txBox="1"/>
          <p:nvPr/>
        </p:nvSpPr>
        <p:spPr>
          <a:xfrm>
            <a:off x="1058200" y="5300000"/>
            <a:ext cx="100756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Good autonomy here means fewer unverified claims, not fewer human research decisions.</a:t>
            </a:r>
          </a:p>
        </p:txBody>
      </p:sp>
      <p:sp>
        <p:nvSpPr>
          <p:cNvPr id="25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7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References used by the agent design</a:t>
            </a:r>
          </a:p>
        </p:txBody>
      </p:sp>
      <p:sp>
        <p:nvSpPr>
          <p:cNvPr id="5" name="Ref row"/>
          <p:cNvSpPr/>
          <p:nvPr/>
        </p:nvSpPr>
        <p:spPr>
          <a:xfrm>
            <a:off x="838200" y="1420000"/>
            <a:ext cx="10515600" cy="6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Ref accent"/>
          <p:cNvSpPr/>
          <p:nvPr/>
        </p:nvSpPr>
        <p:spPr>
          <a:xfrm>
            <a:off x="838200" y="1420000"/>
            <a:ext cx="95000" cy="6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Ref row"/>
          <p:cNvSpPr/>
          <p:nvPr/>
        </p:nvSpPr>
        <p:spPr>
          <a:xfrm>
            <a:off x="838200" y="2240000"/>
            <a:ext cx="105156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8" name="Ref accent"/>
          <p:cNvSpPr/>
          <p:nvPr/>
        </p:nvSpPr>
        <p:spPr>
          <a:xfrm>
            <a:off x="838200" y="2240000"/>
            <a:ext cx="95000" cy="65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Ref row"/>
          <p:cNvSpPr/>
          <p:nvPr/>
        </p:nvSpPr>
        <p:spPr>
          <a:xfrm>
            <a:off x="838200" y="3060000"/>
            <a:ext cx="10515600" cy="6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Ref accent"/>
          <p:cNvSpPr/>
          <p:nvPr/>
        </p:nvSpPr>
        <p:spPr>
          <a:xfrm>
            <a:off x="838200" y="3060000"/>
            <a:ext cx="95000" cy="65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1" name="Ref row"/>
          <p:cNvSpPr/>
          <p:nvPr/>
        </p:nvSpPr>
        <p:spPr>
          <a:xfrm>
            <a:off x="838200" y="3880000"/>
            <a:ext cx="105156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</p:sp>
      <p:sp>
        <p:nvSpPr>
          <p:cNvPr id="12" name="Ref accent"/>
          <p:cNvSpPr/>
          <p:nvPr/>
        </p:nvSpPr>
        <p:spPr>
          <a:xfrm>
            <a:off x="838200" y="3880000"/>
            <a:ext cx="95000" cy="65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3" name="Ref row"/>
          <p:cNvSpPr/>
          <p:nvPr/>
        </p:nvSpPr>
        <p:spPr>
          <a:xfrm>
            <a:off x="838200" y="4700000"/>
            <a:ext cx="10515600" cy="6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4" name="Ref accent"/>
          <p:cNvSpPr/>
          <p:nvPr/>
        </p:nvSpPr>
        <p:spPr>
          <a:xfrm>
            <a:off x="838200" y="4700000"/>
            <a:ext cx="95000" cy="65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5" name="Ref tag"/>
          <p:cNvSpPr txBox="1"/>
          <p:nvPr/>
        </p:nvSpPr>
        <p:spPr>
          <a:xfrm>
            <a:off x="1008200" y="1570000"/>
            <a:ext cx="17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DAE / Lie groups</a:t>
            </a:r>
          </a:p>
        </p:txBody>
      </p:sp>
      <p:sp>
        <p:nvSpPr>
          <p:cNvPr id="16" name="Ref body"/>
          <p:cNvSpPr txBox="1"/>
          <p:nvPr/>
        </p:nvSpPr>
        <p:spPr>
          <a:xfrm>
            <a:off x="2898200" y="1525000"/>
            <a:ext cx="8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9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Hairer &amp; Wanner 1996; Gear, Leimkuhler &amp; Gupta 1985; Munthe-Kaas 1998/1999; Bruls, Cardona &amp; Arnold 2012; Wieloch &amp; Arnold 2021.</a:t>
            </a:r>
          </a:p>
        </p:txBody>
      </p:sp>
      <p:sp>
        <p:nvSpPr>
          <p:cNvPr id="17" name="Ref tag"/>
          <p:cNvSpPr txBox="1"/>
          <p:nvPr/>
        </p:nvSpPr>
        <p:spPr>
          <a:xfrm>
            <a:off x="1008200" y="2390000"/>
            <a:ext cx="17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TFE / higher order</a:t>
            </a:r>
          </a:p>
        </p:txBody>
      </p:sp>
      <p:sp>
        <p:nvSpPr>
          <p:cNvPr id="18" name="Ref body"/>
          <p:cNvSpPr txBox="1"/>
          <p:nvPr/>
        </p:nvSpPr>
        <p:spPr>
          <a:xfrm>
            <a:off x="2898200" y="2345000"/>
            <a:ext cx="8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9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Chaturvedi, Sandu &amp; Sandu 2026, doi:10.1007/s11044-026-10153-w; Kim &amp; Reddy 2017; Borri &amp; Atluri 1988; Hughes &amp; Hulbert 1988; Bauchau 2024.</a:t>
            </a:r>
          </a:p>
        </p:txBody>
      </p:sp>
      <p:sp>
        <p:nvSpPr>
          <p:cNvPr id="19" name="Ref tag"/>
          <p:cNvSpPr txBox="1"/>
          <p:nvPr/>
        </p:nvSpPr>
        <p:spPr>
          <a:xfrm>
            <a:off x="1008200" y="3210000"/>
            <a:ext cx="17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SBEL baselines</a:t>
            </a:r>
          </a:p>
        </p:txBody>
      </p:sp>
      <p:sp>
        <p:nvSpPr>
          <p:cNvPr id="20" name="Ref body"/>
          <p:cNvSpPr txBox="1"/>
          <p:nvPr/>
        </p:nvSpPr>
        <p:spPr>
          <a:xfrm>
            <a:off x="2898200" y="3165000"/>
            <a:ext cx="8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9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Taves, Kissel &amp; Negrut 2020; Kissel, Negrut &amp; Taves 2021/2022; Fang et al. 2023; Kissel, Bakke &amp; Negrut 2024.</a:t>
            </a:r>
          </a:p>
        </p:txBody>
      </p:sp>
      <p:sp>
        <p:nvSpPr>
          <p:cNvPr id="21" name="Ref tag"/>
          <p:cNvSpPr txBox="1"/>
          <p:nvPr/>
        </p:nvSpPr>
        <p:spPr>
          <a:xfrm>
            <a:off x="1008200" y="4030000"/>
            <a:ext cx="17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Friction/contact</a:t>
            </a:r>
          </a:p>
        </p:txBody>
      </p:sp>
      <p:sp>
        <p:nvSpPr>
          <p:cNvPr id="22" name="Ref body"/>
          <p:cNvSpPr txBox="1"/>
          <p:nvPr/>
        </p:nvSpPr>
        <p:spPr>
          <a:xfrm>
            <a:off x="2898200" y="3985000"/>
            <a:ext cx="8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9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Brown &amp; McPhee 2016; Stewart &amp; Trinkle 1996; Anitescu &amp; Potra 1997; Tasora &amp; Anitescu 2011.</a:t>
            </a:r>
          </a:p>
        </p:txBody>
      </p:sp>
      <p:sp>
        <p:nvSpPr>
          <p:cNvPr id="23" name="Ref tag"/>
          <p:cNvSpPr txBox="1"/>
          <p:nvPr/>
        </p:nvSpPr>
        <p:spPr>
          <a:xfrm>
            <a:off x="1008200" y="4850000"/>
            <a:ext cx="17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1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Local artifacts</a:t>
            </a:r>
          </a:p>
        </p:txBody>
      </p:sp>
      <p:sp>
        <p:nvSpPr>
          <p:cNvPr id="24" name="Ref body"/>
          <p:cNvSpPr txBox="1"/>
          <p:nvPr/>
        </p:nvSpPr>
        <p:spPr>
          <a:xfrm>
            <a:off x="2898200" y="4805000"/>
            <a:ext cx="8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9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main_cmame.tex bibliography; REFERENCE_METADATA_AUDIT.md/json; CURRENT_PIPELINE_CONTRACT.md; ORDER_PROOF_LEDGER.md; summary_v047.json; v048 same-test scaffolds.</a:t>
            </a:r>
          </a:p>
        </p:txBody>
      </p:sp>
      <p:sp>
        <p:nvSpPr>
          <p:cNvPr id="25" name="Ref audit"/>
          <p:cNvSpPr txBox="1"/>
          <p:nvPr/>
        </p:nvSpPr>
        <p:spPr>
          <a:xfrm>
            <a:off x="838200" y="5720000"/>
            <a:ext cx="105156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Reference metadata audit status: 28 references; 16/16 DOI rows verified; 12/12 local non-DOI rows verified.</a:t>
            </a:r>
          </a:p>
        </p:txBody>
      </p:sp>
      <p:sp>
        <p:nvSpPr>
          <p:cNvPr id="26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8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2" baseType="variant">
      <vt:variant>
        <vt:lpstr>Slide Titles</vt:lpstr>
      </vt:variant>
      <vt:variant>
        <vt:i4>18</vt:i4>
      </vt:variant>
    </vt:vector>
  </HeadingPairs>
  <TitlesOfParts>
    <vt:vector size="1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Integrator Auto-Research Agent Methodology Slides</dc:title>
  <dc:creator>Codex</dc:creator>
  <cp:lastModifiedBy>Codex</cp:lastModifiedBy>
  <dcterms:created xsi:type="dcterms:W3CDTF">2026-06-09T18:00:00Z</dcterms:created>
  <dcterms:modified xsi:type="dcterms:W3CDTF">2026-06-09T18:00:00Z</dcterms:modified>
</cp:coreProperties>
</file>